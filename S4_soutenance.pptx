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ème" id="{30cba286-efbc-6beb-a181-49774418f966}">
          <p14:sldIdLst>
            <p14:sldId id="256"/>
            <p14:sldId id="257"/>
            <p14:sldId id="258"/>
          </p14:sldIdLst>
        </p14:section>
        <p14:section name="Méthode" id="{678bec25-e905-1c46-9a6a-df1a477190dc}">
          <p14:sldIdLst>
            <p14:sldId id="259"/>
            <p14:sldId id="260"/>
            <p14:sldId id="261"/>
          </p14:sldIdLst>
        </p14:section>
        <p14:section name="Résultats" id="{3eb2ca53-b8b2-a129-4f0e-ddb9df88f2b1}">
          <p14:sldIdLst>
            <p14:sldId id="262"/>
            <p14:sldId id="263"/>
            <p14:sldId id="264"/>
            <p14:sldId id="265"/>
          </p14:sldIdLst>
        </p14:section>
        <p14:section name="Conclusion" id="{ebab76a7-cee9-3b70-691a-7a86dbb6b288}">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E4A63"/>
                </a:solidFill>
                <a:latin typeface="+mn-lt"/>
              </a:defRPr>
            </a:pPr>
            <a:r>
              <a:rPr sz="1300" b="0" i="0" u="none" strike="noStrike">
                <a:solidFill>
                  <a:srgbClr val="5E4A63"/>
                </a:solidFill>
                <a:latin typeface="+mn-lt"/>
              </a:rPr>
              <a:t>Images d'entraînement par type (framboise : malin, sarcelle : bénin)</a:t>
            </a:r>
          </a:p>
        </c:rich>
      </c:tx>
      <c:layout/>
      <c:overlay val="0"/>
    </c:title>
    <c:autoTitleDeleted val="0"/>
    <c:plotArea>
      <c:layout/>
      <c:barChart>
        <c:barDir val="bar"/>
        <c:grouping val="clustered"/>
        <c:varyColors val="0"/>
        <c:ser>
          <c:idx val="0"/>
          <c:order val="0"/>
          <c:tx>
            <c:strRef>
              <c:f>Sheet1!$B$1</c:f>
              <c:strCache>
                <c:ptCount val="1"/>
                <c:pt idx="0">
                  <c:v>Images d'entraînement</c:v>
                </c:pt>
              </c:strCache>
            </c:strRef>
          </c:tx>
          <c:spPr>
            <a:solidFill>
              <a:srgbClr val="2A8C82"/>
            </a:solidFill>
            <a:effectLst/>
          </c:spPr>
          <c:invertIfNegative val="0"/>
          <c:dLbls>
            <c:numFmt formatCode="0" sourceLinked="0"/>
            <c:txPr>
              <a:bodyPr/>
              <a:lstStyle/>
              <a:p>
                <a:pPr>
                  <a:defRPr b="0" i="0" strike="noStrike" sz="1200" u="none">
                    <a:solidFill>
                      <a:srgbClr val="5E4A63"/>
                    </a:solidFill>
                    <a:latin typeface="+mn-lt"/>
                  </a:defRPr>
                </a:pPr>
              </a:p>
            </c:txPr>
            <c:showLegendKey val="0"/>
            <c:showVal val="1"/>
            <c:showCatName val="0"/>
            <c:showSerName val="0"/>
            <c:showPercent val="0"/>
            <c:showBubbleSize val="0"/>
            <c:showLeaderLines val="0"/>
          </c:dLbls>
          <c:dPt>
            <c:idx val="0"/>
            <c:invertIfNegative val="0"/>
            <c:bubble3D val="0"/>
            <c:spPr>
              <a:solidFill>
                <a:srgbClr val="2A8C82"/>
              </a:solidFill>
              <a:effectLst/>
            </c:spPr>
          </c:dPt>
          <c:dPt>
            <c:idx val="1"/>
            <c:invertIfNegative val="0"/>
            <c:bubble3D val="0"/>
            <c:spPr>
              <a:solidFill>
                <a:srgbClr val="B8235A"/>
              </a:solidFill>
              <a:effectLst/>
            </c:spPr>
          </c:dPt>
          <c:dPt>
            <c:idx val="2"/>
            <c:invertIfNegative val="0"/>
            <c:bubble3D val="0"/>
            <c:spPr>
              <a:solidFill>
                <a:srgbClr val="2A8C82"/>
              </a:solidFill>
              <a:effectLst/>
            </c:spPr>
          </c:dPt>
          <c:dPt>
            <c:idx val="3"/>
            <c:invertIfNegative val="0"/>
            <c:bubble3D val="0"/>
            <c:spPr>
              <a:solidFill>
                <a:srgbClr val="B8235A"/>
              </a:solidFill>
              <a:effectLst/>
            </c:spPr>
          </c:dPt>
          <c:dPt>
            <c:idx val="4"/>
            <c:invertIfNegative val="0"/>
            <c:bubble3D val="0"/>
            <c:spPr>
              <a:solidFill>
                <a:srgbClr val="B8235A"/>
              </a:solidFill>
              <a:effectLst/>
            </c:spPr>
          </c:dPt>
          <c:dPt>
            <c:idx val="5"/>
            <c:invertIfNegative val="0"/>
            <c:bubble3D val="0"/>
            <c:spPr>
              <a:solidFill>
                <a:srgbClr val="2A8C82"/>
              </a:solidFill>
              <a:effectLst/>
            </c:spPr>
          </c:dPt>
          <c:dPt>
            <c:idx val="6"/>
            <c:invertIfNegative val="0"/>
            <c:bubble3D val="0"/>
            <c:spPr>
              <a:solidFill>
                <a:srgbClr val="2A8C82"/>
              </a:solidFill>
              <a:effectLst/>
            </c:spPr>
          </c:dPt>
          <c:cat>
            <c:multiLvlStrRef>
              <c:f>Sheet1!$A$2:$A$8</c:f>
              <c:multiLvlStrCache>
                <c:ptCount val="7"/>
                <c:lvl>
                  <c:pt idx="0">
                    <c:v>nv</c:v>
                  </c:pt>
                  <c:pt idx="1">
                    <c:v>mel</c:v>
                  </c:pt>
                  <c:pt idx="2">
                    <c:v>bkl</c:v>
                  </c:pt>
                  <c:pt idx="3">
                    <c:v>bcc</c:v>
                  </c:pt>
                  <c:pt idx="4">
                    <c:v>akiec</c:v>
                  </c:pt>
                  <c:pt idx="5">
                    <c:v>vasc</c:v>
                  </c:pt>
                  <c:pt idx="6">
                    <c:v>df</c:v>
                  </c:pt>
                </c:lvl>
              </c:multiLvlStrCache>
            </c:multiLvlStrRef>
          </c:cat>
          <c:val>
            <c:numRef>
              <c:f>Sheet1!$B$2:$B$8</c:f>
              <c:numCache>
                <c:formatCode>General</c:formatCode>
                <c:ptCount val="7"/>
                <c:pt idx="0">
                  <c:v>4693</c:v>
                </c:pt>
                <c:pt idx="1">
                  <c:v>779</c:v>
                </c:pt>
                <c:pt idx="2">
                  <c:v>769</c:v>
                </c:pt>
                <c:pt idx="3">
                  <c:v>359</c:v>
                </c:pt>
                <c:pt idx="4">
                  <c:v>228</c:v>
                </c:pt>
                <c:pt idx="5">
                  <c:v>99</c:v>
                </c:pt>
                <c:pt idx="6">
                  <c:v>80</c:v>
                </c:pt>
              </c:numCache>
            </c:numRef>
          </c:val>
        </c:ser>
        <c:dLbls>
          <c:numFmt formatCode="0" sourceLinked="0"/>
          <c:txPr>
            <a:bodyPr/>
            <a:lstStyle/>
            <a:p>
              <a:pPr>
                <a:defRPr b="0" i="0" strike="noStrike" sz="1200" u="none">
                  <a:solidFill>
                    <a:srgbClr val="5E4A6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5E4A6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E4A63"/>
                </a:solidFill>
                <a:latin typeface="+mn-lt"/>
              </a:defRPr>
            </a:pPr>
            <a:r>
              <a:rPr sz="1300" b="0" i="0" u="none" strike="noStrike">
                <a:solidFill>
                  <a:srgbClr val="5E4A63"/>
                </a:solidFill>
                <a:latin typeface="+mn-lt"/>
              </a:rPr>
              <a:t>AUC bénin / malin selon la part d'images dont le type est connu</a:t>
            </a:r>
          </a:p>
        </c:rich>
      </c:tx>
      <c:layout/>
      <c:overlay val="0"/>
    </c:title>
    <c:autoTitleDeleted val="0"/>
    <c:plotArea>
      <c:layout/>
      <c:lineChart>
        <c:varyColors val="0"/>
        <c:ser>
          <c:idx val="0"/>
          <c:order val="0"/>
          <c:tx>
            <c:strRef>
              <c:f>Sheet1!$B$1</c:f>
              <c:strCache>
                <c:ptCount val="1"/>
                <c:pt idx="0">
                  <c:v>H : hybride</c:v>
                </c:pt>
              </c:strCache>
            </c:strRef>
          </c:tx>
          <c:spPr>
            <a:solidFill>
              <a:srgbClr val="B8235A"/>
            </a:solidFill>
            <a:ln w="38100" cap="flat">
              <a:solidFill>
                <a:srgbClr val="B8235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9"/>
            <c:spPr>
              <a:solidFill>
                <a:srgbClr val="B8235A"/>
              </a:solidFill>
              <a:ln w="9525" cap="flat">
                <a:solidFill>
                  <a:srgbClr val="B8235A"/>
                </a:solidFill>
                <a:prstDash val="solid"/>
                <a:round/>
              </a:ln>
              <a:effectLst/>
            </c:spPr>
          </c:marker>
          <c:cat>
            <c:multiLvlStrRef>
              <c:f>Sheet1!$A$2:$A$6</c:f>
              <c:multiLvlStrCache>
                <c:ptCount val="5"/>
                <c:lvl>
                  <c:pt idx="0">
                    <c:v>2 %</c:v>
                  </c:pt>
                  <c:pt idx="1">
                    <c:v>5 %</c:v>
                  </c:pt>
                  <c:pt idx="2">
                    <c:v>10 %</c:v>
                  </c:pt>
                  <c:pt idx="3">
                    <c:v>25 %</c:v>
                  </c:pt>
                  <c:pt idx="4">
                    <c:v>100 %</c:v>
                  </c:pt>
                </c:lvl>
              </c:multiLvlStrCache>
            </c:multiLvlStrRef>
          </c:cat>
          <c:val>
            <c:numRef>
              <c:f>Sheet1!$B$2:$B$6</c:f>
              <c:numCache>
                <c:formatCode>General</c:formatCode>
                <c:ptCount val="5"/>
                <c:pt idx="0">
                  <c:v>0.857</c:v>
                </c:pt>
                <c:pt idx="1">
                  <c:v>0.858</c:v>
                </c:pt>
                <c:pt idx="2">
                  <c:v>0.862</c:v>
                </c:pt>
                <c:pt idx="3">
                  <c:v>0.881</c:v>
                </c:pt>
                <c:pt idx="4">
                  <c:v>0.883</c:v>
                </c:pt>
              </c:numCache>
            </c:numRef>
          </c:val>
          <c:smooth val="0"/>
        </c:ser>
        <c:ser>
          <c:idx val="1"/>
          <c:order val="1"/>
          <c:tx>
            <c:strRef>
              <c:f>Sheet1!$C$1</c:f>
              <c:strCache>
                <c:ptCount val="1"/>
                <c:pt idx="0">
                  <c:v>R : référence</c:v>
                </c:pt>
              </c:strCache>
            </c:strRef>
          </c:tx>
          <c:spPr>
            <a:solidFill>
              <a:srgbClr val="9A929C"/>
            </a:solidFill>
            <a:ln w="38100" cap="flat">
              <a:solidFill>
                <a:srgbClr val="9A929C"/>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9"/>
            <c:spPr>
              <a:solidFill>
                <a:srgbClr val="9A929C"/>
              </a:solidFill>
              <a:ln w="9525" cap="flat">
                <a:solidFill>
                  <a:srgbClr val="9A929C"/>
                </a:solidFill>
                <a:prstDash val="solid"/>
                <a:round/>
              </a:ln>
              <a:effectLst/>
            </c:spPr>
          </c:marker>
          <c:cat>
            <c:multiLvlStrRef>
              <c:f>Sheet1!$A$2:$A$6</c:f>
              <c:multiLvlStrCache>
                <c:ptCount val="5"/>
                <c:lvl>
                  <c:pt idx="0">
                    <c:v>2 %</c:v>
                  </c:pt>
                  <c:pt idx="1">
                    <c:v>5 %</c:v>
                  </c:pt>
                  <c:pt idx="2">
                    <c:v>10 %</c:v>
                  </c:pt>
                  <c:pt idx="3">
                    <c:v>25 %</c:v>
                  </c:pt>
                  <c:pt idx="4">
                    <c:v>100 %</c:v>
                  </c:pt>
                </c:lvl>
              </c:multiLvlStrCache>
            </c:multiLvlStrRef>
          </c:cat>
          <c:val>
            <c:numRef>
              <c:f>Sheet1!$C$2:$C$6</c:f>
              <c:numCache>
                <c:formatCode>General</c:formatCode>
                <c:ptCount val="5"/>
                <c:pt idx="0">
                  <c:v>0.776</c:v>
                </c:pt>
                <c:pt idx="1">
                  <c:v>0.811</c:v>
                </c:pt>
                <c:pt idx="2">
                  <c:v>0.818</c:v>
                </c:pt>
                <c:pt idx="3">
                  <c:v>0.874</c:v>
                </c:pt>
                <c:pt idx="4">
                  <c:v>0.885</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E4A63"/>
                </a:solidFill>
                <a:latin typeface="+mn-lt"/>
              </a:defRPr>
            </a:pPr>
            <a:endParaRPr lang="en-US"/>
          </a:p>
        </c:txPr>
        <c:crossAx val="2094734552"/>
        <c:crosses val="autoZero"/>
        <c:auto val="1"/>
        <c:lblAlgn val="ctr"/>
        <c:noMultiLvlLbl val="1"/>
      </c:catAx>
      <c:valAx>
        <c:axId val="2094734552"/>
        <c:scaling>
          <c:orientation val="minMax"/>
          <c:max val="0.9"/>
          <c:min val="0.75"/>
        </c:scaling>
        <c:delete val="0"/>
        <c:axPos val="l"/>
        <c:majorGridlines>
          <c:spPr>
            <a:ln w="9525" cap="flat">
              <a:solidFill>
                <a:srgbClr val="E4DEE6"/>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4A63"/>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300">
              <a:solidFill>
                <a:srgbClr val="5E4A6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E4A63"/>
                </a:solidFill>
                <a:latin typeface="+mn-lt"/>
              </a:defRPr>
            </a:pPr>
            <a:r>
              <a:rPr sz="1300" b="0" i="0" u="none" strike="noStrike">
                <a:solidFill>
                  <a:srgbClr val="5E4A63"/>
                </a:solidFill>
                <a:latin typeface="+mn-lt"/>
              </a:rPr>
              <a:t>527 erreurs de H à 10 % (graine 0), par brique responsable</a:t>
            </a:r>
          </a:p>
        </c:rich>
      </c:tx>
      <c:layout/>
      <c:overlay val="0"/>
    </c:title>
    <c:autoTitleDeleted val="0"/>
    <c:plotArea>
      <c:layout/>
      <c:doughnutChart>
        <c:varyColors val="1"/>
        <c:ser>
          <c:idx val="0"/>
          <c:order val="0"/>
          <c:tx>
            <c:strRef>
              <c:f>Sheet1!$B$1</c:f>
              <c:strCache>
                <c:ptCount val="1"/>
                <c:pt idx="0">
                  <c:v>Erreurs</c:v>
                </c:pt>
              </c:strCache>
            </c:strRef>
          </c:tx>
          <c:spPr>
            <a:solidFill>
              <a:schemeClr val="accent1"/>
            </a:solidFill>
            <a:ln w="9525" cap="flat">
              <a:solidFill>
                <a:srgbClr val="F9F9F9"/>
              </a:solidFill>
              <a:prstDash val="solid"/>
              <a:round/>
            </a:ln>
            <a:effectLst/>
          </c:spPr>
          <c:dPt>
            <c:idx val="0"/>
            <c:bubble3D val="0"/>
            <c:spPr>
              <a:solidFill>
                <a:srgbClr val="B8235A"/>
              </a:solidFill>
              <a:effectLst/>
            </c:spPr>
          </c:dPt>
          <c:dPt>
            <c:idx val="1"/>
            <c:bubble3D val="0"/>
            <c:spPr>
              <a:solidFill>
                <a:srgbClr val="6C3A73"/>
              </a:solidFill>
              <a:effectLst/>
            </c:spPr>
          </c:dPt>
          <c:dPt>
            <c:idx val="2"/>
            <c:bubble3D val="0"/>
            <c:spPr>
              <a:solidFill>
                <a:srgbClr val="9A929C"/>
              </a:solidFill>
              <a:effectLst/>
            </c:spPr>
          </c:dPt>
          <c:dLbls>
            <c:dLbl>
              <c:idx val="0"/>
              <c:numFmt formatCode="0%" sourceLinked="0"/>
              <c:spPr/>
              <c:txPr>
                <a:bodyPr/>
                <a:lstStyle/>
                <a:p>
                  <a:pPr>
                    <a:defRPr sz="14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400" b="1"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4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Perception du groupe</c:v>
                </c:pt>
                <c:pt idx="1">
                  <c:v>Perception intra-groupe</c:v>
                </c:pt>
                <c:pt idx="2">
                  <c:v>Décodage symbolique</c:v>
                </c:pt>
              </c:strCache>
            </c:strRef>
          </c:cat>
          <c:val>
            <c:numRef>
              <c:f>Sheet1!$B$2:$B$4</c:f>
              <c:numCache>
                <c:ptCount val="3"/>
                <c:pt idx="0">
                  <c:v>295</c:v>
                </c:pt>
                <c:pt idx="1">
                  <c:v>224</c:v>
                </c:pt>
                <c:pt idx="2">
                  <c:v>8</c:v>
                </c:pt>
              </c:numCache>
            </c:numRef>
          </c:val>
        </c:ser>
        <c:firstSliceAng val="0"/>
        <c:holeSize val="55"/>
      </c:doughnutChart>
      <c:spPr>
        <a:noFill/>
        <a:ln>
          <a:noFill/>
        </a:ln>
        <a:effectLst/>
      </c:spPr>
    </c:plotArea>
    <c:legend>
      <c:legendPos val="b"/>
      <c:overlay val="0"/>
      <c:txPr>
        <a:bodyPr/>
        <a:lstStyle/>
        <a:p>
          <a:pPr>
            <a:defRPr sz="1300">
              <a:solidFill>
                <a:srgbClr val="5E4A6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E4A63"/>
                </a:solidFill>
                <a:latin typeface="+mn-lt"/>
              </a:defRPr>
            </a:pPr>
            <a:r>
              <a:rPr sz="1300" b="0" i="0" u="none" strike="noStrike">
                <a:solidFill>
                  <a:srgbClr val="5E4A63"/>
                </a:solidFill>
                <a:latin typeface="+mn-lt"/>
              </a:rPr>
              <a:t>Régime 10 %, ensembles conformes à 90 % (%)</a:t>
            </a:r>
          </a:p>
        </c:rich>
      </c:tx>
      <c:layout/>
      <c:overlay val="0"/>
    </c:title>
    <c:autoTitleDeleted val="0"/>
    <c:plotArea>
      <c:layout/>
      <c:barChart>
        <c:barDir val="col"/>
        <c:grouping val="clustered"/>
        <c:varyColors val="0"/>
        <c:ser>
          <c:idx val="0"/>
          <c:order val="0"/>
          <c:tx>
            <c:strRef>
              <c:f>Sheet1!$B$1</c:f>
              <c:strCache>
                <c:ptCount val="1"/>
                <c:pt idx="0">
                  <c:v>R : référence</c:v>
                </c:pt>
              </c:strCache>
            </c:strRef>
          </c:tx>
          <c:spPr>
            <a:solidFill>
              <a:srgbClr val="9A929C"/>
            </a:solidFill>
            <a:effectLst/>
          </c:spPr>
          <c:invertIfNegative val="0"/>
          <c:dLbls>
            <c:numFmt formatCode="0.0&quot; %&quot;" sourceLinked="0"/>
            <c:txPr>
              <a:bodyPr/>
              <a:lstStyle/>
              <a:p>
                <a:pPr>
                  <a:defRPr b="0" i="0" strike="noStrike" sz="1300" u="none">
                    <a:solidFill>
                      <a:srgbClr val="5E4A63"/>
                    </a:solidFill>
                    <a:latin typeface="+mn-lt"/>
                  </a:defRPr>
                </a:pPr>
              </a:p>
            </c:txPr>
            <c:showLegendKey val="0"/>
            <c:showVal val="1"/>
            <c:showCatName val="0"/>
            <c:showSerName val="0"/>
            <c:showPercent val="0"/>
            <c:showBubbleSize val="0"/>
            <c:showLeaderLines val="0"/>
          </c:dLbls>
          <c:cat>
            <c:multiLvlStrRef>
              <c:f>Sheet1!$A$2:$A$3</c:f>
              <c:multiLvlStrCache>
                <c:ptCount val="2"/>
                <c:lvl>
                  <c:pt idx="0">
                    <c:v>Images escaladées</c:v>
                  </c:pt>
                  <c:pt idx="1">
                    <c:v>Malins sans alerte</c:v>
                  </c:pt>
                </c:lvl>
              </c:multiLvlStrCache>
            </c:multiLvlStrRef>
          </c:cat>
          <c:val>
            <c:numRef>
              <c:f>Sheet1!$B$2:$B$3</c:f>
              <c:numCache>
                <c:formatCode>General</c:formatCode>
                <c:ptCount val="2"/>
                <c:pt idx="0">
                  <c:v>44.2</c:v>
                </c:pt>
                <c:pt idx="1">
                  <c:v>18.1</c:v>
                </c:pt>
              </c:numCache>
            </c:numRef>
          </c:val>
        </c:ser>
        <c:ser>
          <c:idx val="1"/>
          <c:order val="1"/>
          <c:tx>
            <c:strRef>
              <c:f>Sheet1!$C$1</c:f>
              <c:strCache>
                <c:ptCount val="1"/>
                <c:pt idx="0">
                  <c:v>H : hybride</c:v>
                </c:pt>
              </c:strCache>
            </c:strRef>
          </c:tx>
          <c:spPr>
            <a:solidFill>
              <a:srgbClr val="B8235A"/>
            </a:solidFill>
            <a:effectLst/>
          </c:spPr>
          <c:invertIfNegative val="0"/>
          <c:dLbls>
            <c:numFmt formatCode="0.0&quot; %&quot;" sourceLinked="0"/>
            <c:txPr>
              <a:bodyPr/>
              <a:lstStyle/>
              <a:p>
                <a:pPr>
                  <a:defRPr b="0" i="0" strike="noStrike" sz="1300" u="none">
                    <a:solidFill>
                      <a:srgbClr val="5E4A63"/>
                    </a:solidFill>
                    <a:latin typeface="+mn-lt"/>
                  </a:defRPr>
                </a:pPr>
              </a:p>
            </c:txPr>
            <c:showLegendKey val="0"/>
            <c:showVal val="1"/>
            <c:showCatName val="0"/>
            <c:showSerName val="0"/>
            <c:showPercent val="0"/>
            <c:showBubbleSize val="0"/>
            <c:showLeaderLines val="0"/>
          </c:dLbls>
          <c:cat>
            <c:multiLvlStrRef>
              <c:f>Sheet1!$A$2:$A$3</c:f>
              <c:multiLvlStrCache>
                <c:ptCount val="2"/>
                <c:lvl>
                  <c:pt idx="0">
                    <c:v>Images escaladées</c:v>
                  </c:pt>
                  <c:pt idx="1">
                    <c:v>Malins sans alerte</c:v>
                  </c:pt>
                </c:lvl>
              </c:multiLvlStrCache>
            </c:multiLvlStrRef>
          </c:cat>
          <c:val>
            <c:numRef>
              <c:f>Sheet1!$C$2:$C$3</c:f>
              <c:numCache>
                <c:formatCode>General</c:formatCode>
                <c:ptCount val="2"/>
                <c:pt idx="0">
                  <c:v>24.8</c:v>
                </c:pt>
                <c:pt idx="1">
                  <c:v>26.5</c:v>
                </c:pt>
              </c:numCache>
            </c:numRef>
          </c:val>
        </c:ser>
        <c:dLbls>
          <c:numFmt formatCode="0.0&quot; %&quot;" sourceLinked="0"/>
          <c:txPr>
            <a:bodyPr/>
            <a:lstStyle/>
            <a:p>
              <a:pPr>
                <a:defRPr b="0" i="0" strike="noStrike" sz="1300" u="none">
                  <a:solidFill>
                    <a:srgbClr val="5E4A6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E4A63"/>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5E4A6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rapide du groupe et du sujet (quelques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LINA (0:45). Le sujet : classer des images dermatoscopiques en 7 types. Deux contraintes : les sorties doivent être cohérentes avec la hiérarchie médicale bénin / malin, et on veut savoir ce que ça apporte quand on a peu d'images annotées finement. Montrer les deux groupes : à gauche les malins et pré-malins, à droite les bénins. Insister : les images sont en 28×28, c'est volontairement très basse résolution, l'objectif est l'apport de la contrainte, pas l'état de l'art.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LINA (1:00). DermaMNIST, version 28×28 de HAM10000 : 7 007 images d'entraînement, 1 003 de validation, 2 005 de test. Très déséquilibré : 67 % de nævus, seulement 80 dermatofibromes. La précision globale est donc trompeuse ; on regarde la précision équilibrée, le rappel du mélanome et l'AUC bénin / malin. Régime peu supervisé : on garde le type de 10 % des images (701), tirage stratifié pour que chaque classe soit représentée ; pour le reste on ne connaît que le groupe, ce qui correspond à une biopsie sans typage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LINA (1:00). La connaissance symbolique est une hiérarchie : akiec, bcc et mel sont malins ou pré-malins, les quatre autres bénins. Justifier akiec : la kératose actinique est pré-maligne ; son risque d'évolution en carcinome est faible (moins d'une sur 1 000 par an selon les recommandations britanniques), mais en dépistage on choisit qu'elle soit vue par un dermatologue. Le regroupement est inspiré de HAM10000, qui décrit bcc et mel comme malins, akiec comme pouvant évoluer en carcinome, et nv, bkl, df comme bénins ; ranger vasc avec les bénins est notre choix. Faire le lien avec le TP MNIST : la règle somme = a + b reliait une étiquette globale aux chiffres ; ici la règle type implique groupe relie l'étiquette globale, le groupe, aux types fins.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LINA (1:30). Trois modèles avec le même petit CNN. R, la référence non hybride, n'a qu'une tête à 7 classes et ne voit que les images étiquetées. M ajoute une tête groupe, sans aucune règle. H ajoute les briques symboliques : (a) si on sait que la lésion est maligne, le type doit être akiec, bcc ou mel, c'est exactement l'idée du TP MNIST ; (b) la semantic loss, qui pénalise les sorties incohérentes entre les deux têtes, sans étiquette ; (c) en sortie, on choisit le couple type-groupe le plus probable, donc jamais d'incohérence. On a aussi testé une variante floue, la t-norme de Łukasiewicz.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LINA (0:45). Pour que la comparaison soit honnête : deux régimes, 100 % et 10 % d'étiquettes fines ; trois graines ; le même nombre de pas pour tous ; et la validation ne sert qu'à la calibration, pas à choisir le meilleur modèle. Puis passer la parole à Alexis.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ALEXIS (1:30). Le résultat principal. En framboise l'hybride, en gris la référence. Avec très peu d'étiquettes fines, l'hybride garde une AUC bénin / malin de 0,86 alors que la référence tombe à 0,78 à 2 %. C'est la décision qui compte en dépistage. Les deux courbes se rejoignent à partir de 25 %. En revanche, sur le type exact, l'hybride ne fait pas mieux : 0,368 de précision équilibrée contre 0,390 pour la référence à 10 %. Côté cohérence : sans décodage, les têtes de M se contredisent sur 5,7 % des images, 3,8 % pour H, 0 % après décodage cohérent.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ALEXIS (1:15). L'ablation. Retirer la règle (a) fait baisser l'AUC malin de 0,862 à 0,856 : c'est la brique qui fait passer l'information de groupe vers la tête type. Retirer la cohérence (b) améliore un peu les résultats. Łukasiewicz fait mieux que la semantic loss, sans doute parce que sa pénalité est bornée. Et surtout, M, sans aucune règle, fait presque aussi bien que H : le gain vient de l'étiquette de groupe. Pourquoi la règle n'aide pas le type exact : elle ne dit rien à l'intérieur d'un groupe, et pousse vers la classe dominante, comme la règle du maximum dans le TP. Attention, ces écarts sont petits, du même ordre que les écarts-types.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ALEXIS (1:15). Analyse d'erreurs par brique. 56 % des erreurs sont des erreurs de groupe, 43 % des erreurs à l'intérieur du bon groupe, que la hiérarchie ne peut pas corriger, et seulement 2 % viennent du décodage symbolique, qui en corrige d'ailleurs autant qu'il en introduit. Le goulot, c'est la perception : à 28×28, le mélanome est confondu avec le nævus dans la moitié des cas. Cas difficiles : face à des chiffres manuscrits, tous les modèles répondent malin avec 99 % de confiance ; la hiérarchie choisit parmi les 7 types connus, elle ne sait pas dire aucun. Sous sous-exposition, l'hybride garde une meilleure AUC malin.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ALEXIS (1:15). Pour exploiter l'incertitude : d'abord la température, qui ramène l'ECE de 0,14 à 0,03 pour la référence. Ensuite la prédiction conforme : des ensembles de types qui contiennent le vrai type 90 % du temps, et c'est tenu. La règle d'escalade : si l'ensemble mélange bénin et malin, on transmet au dermatologue. Compromis : l'hybride escalade presque deux fois moins, 24,8 % contre 44,2 %, mais laisse passer plus de malins sans alerte, 26,5 % contre 18,1 %. Aucun des deux n'est acceptable pour un vrai dépistage. Exemple d'explication à montrer si on a le temps : un mélanome reconnu à 0,51, ensemble {mel, nv}, donc escaladé : le modèle n'exclut pas le bénin mais ne laisse pas passer le malin.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ALEXIS (1:00). Conclusion : la hiérarchie bénin / malin aide là où elle apporte de l'information, la décision bénin / malin avec peu d'étiquettes, et rend les sorties cohérentes et traçables. Elle n'aide pas pour le type exact ni pour les images hors domaine. Limites : 28×28, 3 graines, population à peau claire (HAM10000, Autriche et Australie). Pistes : une connaissance plus riche comme les critères ABCD, et une brique de contrôle en entrée.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_SOMB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515600" cy="16459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840480"/>
            <a:ext cx="10515600" cy="146304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CLUSION_SOMB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6424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Groupe 4 · IA hybride · Sujet 4 – Lésions de la peau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4.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515600" cy="1645920"/>
          </a:xfrm>
          <a:prstGeom prst="rect">
            <a:avLst/>
          </a:prstGeom>
          <a:noFill/>
          <a:ln/>
        </p:spPr>
        <p:txBody>
          <a:bodyPr wrap="square" rtlCol="0" anchor="b"/>
          <a:lstStyle/>
          <a:p>
            <a:pPr algn="l" indent="0" marL="0">
              <a:buNone/>
            </a:pPr>
            <a:r>
              <a:rPr lang="en-US" sz="4400" b="1" dirty="0">
                <a:solidFill>
                  <a:schemeClr val="bg1"/>
                </a:solidFill>
              </a:rPr>
              <a:t>Lésions de la peau sous contraintes logiques</a:t>
            </a:r>
            <a:endParaRPr lang="en-US" sz="4400" dirty="0"/>
          </a:p>
        </p:txBody>
      </p:sp>
      <p:sp>
        <p:nvSpPr>
          <p:cNvPr id="3" name="Text 0"/>
          <p:cNvSpPr/>
          <p:nvPr>
            <p:ph idx="101" type="body" hasCustomPrompt="1"/>
          </p:nvPr>
        </p:nvSpPr>
        <p:spPr>
          <a:xfrm>
            <a:off x="548640" y="3840480"/>
            <a:ext cx="10515600" cy="1463040"/>
          </a:xfrm>
          <a:prstGeom prst="rect">
            <a:avLst/>
          </a:prstGeom>
          <a:noFill/>
          <a:ln/>
        </p:spPr>
        <p:txBody>
          <a:bodyPr wrap="square" rtlCol="0" anchor="t"/>
          <a:lstStyle/>
          <a:p>
            <a:pPr indent="0" marL="0">
              <a:buNone/>
            </a:pPr>
            <a:r>
              <a:rPr lang="en-US" sz="1800" dirty="0">
                <a:solidFill>
                  <a:schemeClr val="accent6"/>
                </a:solidFill>
              </a:rPr>
              <a:t>IA hybride · Mini-projet, sujet 4</a:t>
            </a:r>
            <a:endParaRPr lang="en-US" sz="1800" dirty="0"/>
          </a:p>
          <a:p>
            <a:pPr indent="0" marL="0">
              <a:buNone/>
            </a:pPr>
            <a:r>
              <a:rPr lang="en-US" sz="1800" dirty="0">
                <a:solidFill>
                  <a:schemeClr val="accent6"/>
                </a:solidFill>
              </a:rPr>
              <a:t>Groupe 4 : Lina Khadly, Alexis Dechenais · ISIS Castres, 5e année DSIA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Classer 7 types de lésions, cohérents avec bénin / malin</a:t>
            </a:r>
            <a:endParaRPr lang="en-US" sz="3000" dirty="0"/>
          </a:p>
        </p:txBody>
      </p:sp>
      <p:sp>
        <p:nvSpPr>
          <p:cNvPr id="3" name="Text 1"/>
          <p:cNvSpPr txBox="1"/>
          <p:nvPr/>
        </p:nvSpPr>
        <p:spPr>
          <a:xfrm>
            <a:off x="548640" y="1143000"/>
            <a:ext cx="10972800" cy="457200"/>
          </a:xfrm>
          <a:prstGeom prst="rect">
            <a:avLst/>
          </a:prstGeom>
          <a:noFill/>
          <a:ln/>
        </p:spPr>
        <p:txBody>
          <a:bodyPr wrap="square" lIns="0" tIns="0" rIns="0" bIns="0" rtlCol="0" anchor="t"/>
          <a:lstStyle/>
          <a:p>
            <a:pPr indent="0" marL="0">
              <a:buNone/>
            </a:pPr>
            <a:r>
              <a:rPr lang="en-US" sz="1800" dirty="0">
                <a:solidFill>
                  <a:schemeClr val="tx2"/>
                </a:solidFill>
              </a:rPr>
              <a:t>Avec une incertitude exploitable et peu d'images annotées finement</a:t>
            </a:r>
            <a:endParaRPr lang="en-US" sz="1800" dirty="0"/>
          </a:p>
        </p:txBody>
      </p:sp>
      <p:sp>
        <p:nvSpPr>
          <p:cNvPr id="4" name="groupe-malin"/>
          <p:cNvSpPr/>
          <p:nvPr/>
        </p:nvSpPr>
        <p:spPr>
          <a:xfrm>
            <a:off x="548640" y="2011680"/>
            <a:ext cx="4672584" cy="3063240"/>
          </a:xfrm>
          <a:prstGeom prst="roundRect">
            <a:avLst>
              <a:gd name="adj" fmla="val 3582"/>
            </a:avLst>
          </a:prstGeom>
          <a:solidFill>
            <a:schemeClr val="bg2"/>
          </a:solidFill>
          <a:ln w="12700">
            <a:solidFill>
              <a:schemeClr val="bg2"/>
            </a:solidFill>
            <a:prstDash val="solid"/>
          </a:ln>
        </p:spPr>
      </p:sp>
      <p:sp>
        <p:nvSpPr>
          <p:cNvPr id="5" name="groupe-benin"/>
          <p:cNvSpPr/>
          <p:nvPr/>
        </p:nvSpPr>
        <p:spPr>
          <a:xfrm>
            <a:off x="5495544" y="2011680"/>
            <a:ext cx="6153912" cy="3063240"/>
          </a:xfrm>
          <a:prstGeom prst="roundRect">
            <a:avLst>
              <a:gd name="adj" fmla="val 3582"/>
            </a:avLst>
          </a:prstGeom>
          <a:solidFill>
            <a:schemeClr val="bg2"/>
          </a:solidFill>
          <a:ln w="12700">
            <a:solidFill>
              <a:schemeClr val="bg2"/>
            </a:solidFill>
            <a:prstDash val="solid"/>
          </a:ln>
        </p:spPr>
      </p:sp>
      <p:sp>
        <p:nvSpPr>
          <p:cNvPr id="6" name="Text 4"/>
          <p:cNvSpPr txBox="1"/>
          <p:nvPr/>
        </p:nvSpPr>
        <p:spPr>
          <a:xfrm>
            <a:off x="777240" y="2176272"/>
            <a:ext cx="3657600" cy="365760"/>
          </a:xfrm>
          <a:prstGeom prst="rect">
            <a:avLst/>
          </a:prstGeom>
          <a:noFill/>
          <a:ln/>
        </p:spPr>
        <p:txBody>
          <a:bodyPr wrap="square" lIns="0" tIns="0" rIns="0" bIns="0" rtlCol="0" anchor="t"/>
          <a:lstStyle/>
          <a:p>
            <a:pPr indent="0" marL="0">
              <a:buNone/>
            </a:pPr>
            <a:r>
              <a:rPr lang="en-US" sz="1800" b="1" dirty="0">
                <a:solidFill>
                  <a:schemeClr val="accent1"/>
                </a:solidFill>
              </a:rPr>
              <a:t>Malin / pré-malin</a:t>
            </a:r>
            <a:endParaRPr lang="en-US" sz="1800" dirty="0"/>
          </a:p>
        </p:txBody>
      </p:sp>
      <p:sp>
        <p:nvSpPr>
          <p:cNvPr id="7" name="Text 5"/>
          <p:cNvSpPr txBox="1"/>
          <p:nvPr/>
        </p:nvSpPr>
        <p:spPr>
          <a:xfrm>
            <a:off x="5724144" y="2176272"/>
            <a:ext cx="3657600" cy="365760"/>
          </a:xfrm>
          <a:prstGeom prst="rect">
            <a:avLst/>
          </a:prstGeom>
          <a:noFill/>
          <a:ln/>
        </p:spPr>
        <p:txBody>
          <a:bodyPr wrap="square" lIns="0" tIns="0" rIns="0" bIns="0" rtlCol="0" anchor="t"/>
          <a:lstStyle/>
          <a:p>
            <a:pPr indent="0" marL="0">
              <a:buNone/>
            </a:pPr>
            <a:r>
              <a:rPr lang="en-US" sz="1800" b="1" dirty="0">
                <a:solidFill>
                  <a:schemeClr val="accent2"/>
                </a:solidFill>
              </a:rPr>
              <a:t>Bénin</a:t>
            </a:r>
            <a:endParaRPr lang="en-US" sz="1800" dirty="0"/>
          </a:p>
        </p:txBody>
      </p:sp>
      <p:pic>
        <p:nvPicPr>
          <p:cNvPr id="8" name="image-akiec" descr="Exemple de kératose actinique (28×28 pixels)">    </p:cNvPr>
          <p:cNvPicPr>
            <a:picLocks noChangeAspect="1"/>
          </p:cNvPicPr>
          <p:nvPr/>
        </p:nvPicPr>
        <p:blipFill>
          <a:blip r:embed="rId1"/>
          <a:stretch>
            <a:fillRect/>
          </a:stretch>
        </p:blipFill>
        <p:spPr>
          <a:xfrm>
            <a:off x="777240" y="2697480"/>
            <a:ext cx="1252728" cy="1252728"/>
          </a:xfrm>
          <a:prstGeom prst="rect">
            <a:avLst/>
          </a:prstGeom>
        </p:spPr>
      </p:pic>
      <p:sp>
        <p:nvSpPr>
          <p:cNvPr id="9" name="Text 6"/>
          <p:cNvSpPr txBox="1"/>
          <p:nvPr/>
        </p:nvSpPr>
        <p:spPr>
          <a:xfrm>
            <a:off x="777240" y="4041648"/>
            <a:ext cx="1252728" cy="822960"/>
          </a:xfrm>
          <a:prstGeom prst="rect">
            <a:avLst/>
          </a:prstGeom>
          <a:noFill/>
          <a:ln/>
        </p:spPr>
        <p:txBody>
          <a:bodyPr wrap="square" lIns="0" tIns="0" rIns="0" bIns="0" rtlCol="0" anchor="t"/>
          <a:lstStyle/>
          <a:p>
            <a:pPr indent="0" marL="0">
              <a:buNone/>
            </a:pPr>
            <a:r>
              <a:rPr lang="en-US" sz="1400" b="1" dirty="0">
                <a:solidFill>
                  <a:schemeClr val="tx1"/>
                </a:solidFill>
              </a:rPr>
              <a:t>akiec</a:t>
            </a:r>
            <a:endParaRPr lang="en-US" sz="1400" dirty="0"/>
          </a:p>
          <a:p>
            <a:pPr indent="0" marL="0">
              <a:buNone/>
            </a:pPr>
            <a:r>
              <a:rPr lang="en-US" sz="1200" dirty="0">
                <a:solidFill>
                  <a:schemeClr val="tx2"/>
                </a:solidFill>
              </a:rPr>
              <a:t>kératose actinique</a:t>
            </a:r>
            <a:endParaRPr lang="en-US" sz="1400" dirty="0"/>
          </a:p>
        </p:txBody>
      </p:sp>
      <p:pic>
        <p:nvPicPr>
          <p:cNvPr id="10" name="image-bcc" descr="Exemple de carcinome basocellulaire (28×28 pixels)">    </p:cNvPr>
          <p:cNvPicPr>
            <a:picLocks noChangeAspect="1"/>
          </p:cNvPicPr>
          <p:nvPr/>
        </p:nvPicPr>
        <p:blipFill>
          <a:blip r:embed="rId2"/>
          <a:stretch>
            <a:fillRect/>
          </a:stretch>
        </p:blipFill>
        <p:spPr>
          <a:xfrm>
            <a:off x="2258568" y="2697480"/>
            <a:ext cx="1252728" cy="1252728"/>
          </a:xfrm>
          <a:prstGeom prst="rect">
            <a:avLst/>
          </a:prstGeom>
        </p:spPr>
      </p:pic>
      <p:sp>
        <p:nvSpPr>
          <p:cNvPr id="11" name="Text 7"/>
          <p:cNvSpPr txBox="1"/>
          <p:nvPr/>
        </p:nvSpPr>
        <p:spPr>
          <a:xfrm>
            <a:off x="2258568" y="4041648"/>
            <a:ext cx="1252728" cy="822960"/>
          </a:xfrm>
          <a:prstGeom prst="rect">
            <a:avLst/>
          </a:prstGeom>
          <a:noFill/>
          <a:ln/>
        </p:spPr>
        <p:txBody>
          <a:bodyPr wrap="square" lIns="0" tIns="0" rIns="0" bIns="0" rtlCol="0" anchor="t"/>
          <a:lstStyle/>
          <a:p>
            <a:pPr indent="0" marL="0">
              <a:buNone/>
            </a:pPr>
            <a:r>
              <a:rPr lang="en-US" sz="1400" b="1" dirty="0">
                <a:solidFill>
                  <a:schemeClr val="tx1"/>
                </a:solidFill>
              </a:rPr>
              <a:t>bcc</a:t>
            </a:r>
            <a:endParaRPr lang="en-US" sz="1400" dirty="0"/>
          </a:p>
          <a:p>
            <a:pPr indent="0" marL="0">
              <a:buNone/>
            </a:pPr>
            <a:r>
              <a:rPr lang="en-US" sz="1200" dirty="0">
                <a:solidFill>
                  <a:schemeClr val="tx2"/>
                </a:solidFill>
              </a:rPr>
              <a:t>carcinome basocellulaire</a:t>
            </a:r>
            <a:endParaRPr lang="en-US" sz="1400" dirty="0"/>
          </a:p>
        </p:txBody>
      </p:sp>
      <p:pic>
        <p:nvPicPr>
          <p:cNvPr id="12" name="image-mel" descr="Exemple de mélanome (28×28 pixels)">    </p:cNvPr>
          <p:cNvPicPr>
            <a:picLocks noChangeAspect="1"/>
          </p:cNvPicPr>
          <p:nvPr/>
        </p:nvPicPr>
        <p:blipFill>
          <a:blip r:embed="rId3"/>
          <a:stretch>
            <a:fillRect/>
          </a:stretch>
        </p:blipFill>
        <p:spPr>
          <a:xfrm>
            <a:off x="3739896" y="2697480"/>
            <a:ext cx="1252728" cy="1252728"/>
          </a:xfrm>
          <a:prstGeom prst="rect">
            <a:avLst/>
          </a:prstGeom>
        </p:spPr>
      </p:pic>
      <p:sp>
        <p:nvSpPr>
          <p:cNvPr id="13" name="Text 8"/>
          <p:cNvSpPr txBox="1"/>
          <p:nvPr/>
        </p:nvSpPr>
        <p:spPr>
          <a:xfrm>
            <a:off x="3739896" y="4041648"/>
            <a:ext cx="1252728" cy="822960"/>
          </a:xfrm>
          <a:prstGeom prst="rect">
            <a:avLst/>
          </a:prstGeom>
          <a:noFill/>
          <a:ln/>
        </p:spPr>
        <p:txBody>
          <a:bodyPr wrap="square" lIns="0" tIns="0" rIns="0" bIns="0" rtlCol="0" anchor="t"/>
          <a:lstStyle/>
          <a:p>
            <a:pPr indent="0" marL="0">
              <a:buNone/>
            </a:pPr>
            <a:r>
              <a:rPr lang="en-US" sz="1400" b="1" dirty="0">
                <a:solidFill>
                  <a:schemeClr val="tx1"/>
                </a:solidFill>
              </a:rPr>
              <a:t>mel</a:t>
            </a:r>
            <a:endParaRPr lang="en-US" sz="1400" dirty="0"/>
          </a:p>
          <a:p>
            <a:pPr indent="0" marL="0">
              <a:buNone/>
            </a:pPr>
            <a:r>
              <a:rPr lang="en-US" sz="1200" dirty="0">
                <a:solidFill>
                  <a:schemeClr val="tx2"/>
                </a:solidFill>
              </a:rPr>
              <a:t>mélanome</a:t>
            </a:r>
            <a:endParaRPr lang="en-US" sz="1400" dirty="0"/>
          </a:p>
        </p:txBody>
      </p:sp>
      <p:pic>
        <p:nvPicPr>
          <p:cNvPr id="14" name="image-nv" descr="Exemple de nævus (28×28 pixels)">    </p:cNvPr>
          <p:cNvPicPr>
            <a:picLocks noChangeAspect="1"/>
          </p:cNvPicPr>
          <p:nvPr/>
        </p:nvPicPr>
        <p:blipFill>
          <a:blip r:embed="rId4"/>
          <a:stretch>
            <a:fillRect/>
          </a:stretch>
        </p:blipFill>
        <p:spPr>
          <a:xfrm>
            <a:off x="5724144" y="2697480"/>
            <a:ext cx="1252728" cy="1252728"/>
          </a:xfrm>
          <a:prstGeom prst="rect">
            <a:avLst/>
          </a:prstGeom>
        </p:spPr>
      </p:pic>
      <p:sp>
        <p:nvSpPr>
          <p:cNvPr id="15" name="Text 9"/>
          <p:cNvSpPr txBox="1"/>
          <p:nvPr/>
        </p:nvSpPr>
        <p:spPr>
          <a:xfrm>
            <a:off x="5724144" y="4041648"/>
            <a:ext cx="1252728" cy="822960"/>
          </a:xfrm>
          <a:prstGeom prst="rect">
            <a:avLst/>
          </a:prstGeom>
          <a:noFill/>
          <a:ln/>
        </p:spPr>
        <p:txBody>
          <a:bodyPr wrap="square" lIns="0" tIns="0" rIns="0" bIns="0" rtlCol="0" anchor="t"/>
          <a:lstStyle/>
          <a:p>
            <a:pPr indent="0" marL="0">
              <a:buNone/>
            </a:pPr>
            <a:r>
              <a:rPr lang="en-US" sz="1400" b="1" dirty="0">
                <a:solidFill>
                  <a:schemeClr val="tx1"/>
                </a:solidFill>
              </a:rPr>
              <a:t>nv</a:t>
            </a:r>
            <a:endParaRPr lang="en-US" sz="1400" dirty="0"/>
          </a:p>
          <a:p>
            <a:pPr indent="0" marL="0">
              <a:buNone/>
            </a:pPr>
            <a:r>
              <a:rPr lang="en-US" sz="1200" dirty="0">
                <a:solidFill>
                  <a:schemeClr val="tx2"/>
                </a:solidFill>
              </a:rPr>
              <a:t>nævus</a:t>
            </a:r>
            <a:endParaRPr lang="en-US" sz="1400" dirty="0"/>
          </a:p>
        </p:txBody>
      </p:sp>
      <p:pic>
        <p:nvPicPr>
          <p:cNvPr id="16" name="image-bkl" descr="Exemple de kératose bénigne (28×28 pixels)">    </p:cNvPr>
          <p:cNvPicPr>
            <a:picLocks noChangeAspect="1"/>
          </p:cNvPicPr>
          <p:nvPr/>
        </p:nvPicPr>
        <p:blipFill>
          <a:blip r:embed="rId5"/>
          <a:stretch>
            <a:fillRect/>
          </a:stretch>
        </p:blipFill>
        <p:spPr>
          <a:xfrm>
            <a:off x="7205472" y="2697480"/>
            <a:ext cx="1252728" cy="1252728"/>
          </a:xfrm>
          <a:prstGeom prst="rect">
            <a:avLst/>
          </a:prstGeom>
        </p:spPr>
      </p:pic>
      <p:sp>
        <p:nvSpPr>
          <p:cNvPr id="17" name="Text 10"/>
          <p:cNvSpPr txBox="1"/>
          <p:nvPr/>
        </p:nvSpPr>
        <p:spPr>
          <a:xfrm>
            <a:off x="7205472" y="4041648"/>
            <a:ext cx="1252728" cy="822960"/>
          </a:xfrm>
          <a:prstGeom prst="rect">
            <a:avLst/>
          </a:prstGeom>
          <a:noFill/>
          <a:ln/>
        </p:spPr>
        <p:txBody>
          <a:bodyPr wrap="square" lIns="0" tIns="0" rIns="0" bIns="0" rtlCol="0" anchor="t"/>
          <a:lstStyle/>
          <a:p>
            <a:pPr indent="0" marL="0">
              <a:buNone/>
            </a:pPr>
            <a:r>
              <a:rPr lang="en-US" sz="1400" b="1" dirty="0">
                <a:solidFill>
                  <a:schemeClr val="tx1"/>
                </a:solidFill>
              </a:rPr>
              <a:t>bkl</a:t>
            </a:r>
            <a:endParaRPr lang="en-US" sz="1400" dirty="0"/>
          </a:p>
          <a:p>
            <a:pPr indent="0" marL="0">
              <a:buNone/>
            </a:pPr>
            <a:r>
              <a:rPr lang="en-US" sz="1200" dirty="0">
                <a:solidFill>
                  <a:schemeClr val="tx2"/>
                </a:solidFill>
              </a:rPr>
              <a:t>kératose bénigne</a:t>
            </a:r>
            <a:endParaRPr lang="en-US" sz="1400" dirty="0"/>
          </a:p>
        </p:txBody>
      </p:sp>
      <p:pic>
        <p:nvPicPr>
          <p:cNvPr id="18" name="image-df" descr="Exemple de dermatofibrome (28×28 pixels)">    </p:cNvPr>
          <p:cNvPicPr>
            <a:picLocks noChangeAspect="1"/>
          </p:cNvPicPr>
          <p:nvPr/>
        </p:nvPicPr>
        <p:blipFill>
          <a:blip r:embed="rId6"/>
          <a:stretch>
            <a:fillRect/>
          </a:stretch>
        </p:blipFill>
        <p:spPr>
          <a:xfrm>
            <a:off x="8686800" y="2697480"/>
            <a:ext cx="1252728" cy="1252728"/>
          </a:xfrm>
          <a:prstGeom prst="rect">
            <a:avLst/>
          </a:prstGeom>
        </p:spPr>
      </p:pic>
      <p:sp>
        <p:nvSpPr>
          <p:cNvPr id="19" name="Text 11"/>
          <p:cNvSpPr txBox="1"/>
          <p:nvPr/>
        </p:nvSpPr>
        <p:spPr>
          <a:xfrm>
            <a:off x="8686800" y="4041648"/>
            <a:ext cx="1252728" cy="822960"/>
          </a:xfrm>
          <a:prstGeom prst="rect">
            <a:avLst/>
          </a:prstGeom>
          <a:noFill/>
          <a:ln/>
        </p:spPr>
        <p:txBody>
          <a:bodyPr wrap="square" lIns="0" tIns="0" rIns="0" bIns="0" rtlCol="0" anchor="t"/>
          <a:lstStyle/>
          <a:p>
            <a:pPr indent="0" marL="0">
              <a:buNone/>
            </a:pPr>
            <a:r>
              <a:rPr lang="en-US" sz="1400" b="1" dirty="0">
                <a:solidFill>
                  <a:schemeClr val="tx1"/>
                </a:solidFill>
              </a:rPr>
              <a:t>df</a:t>
            </a:r>
            <a:endParaRPr lang="en-US" sz="1400" dirty="0"/>
          </a:p>
          <a:p>
            <a:pPr indent="0" marL="0">
              <a:buNone/>
            </a:pPr>
            <a:r>
              <a:rPr lang="en-US" sz="1200" dirty="0">
                <a:solidFill>
                  <a:schemeClr val="tx2"/>
                </a:solidFill>
              </a:rPr>
              <a:t>dermatofibrome</a:t>
            </a:r>
            <a:endParaRPr lang="en-US" sz="1400" dirty="0"/>
          </a:p>
        </p:txBody>
      </p:sp>
      <p:pic>
        <p:nvPicPr>
          <p:cNvPr id="20" name="image-vasc" descr="Exemple de lésion vasculaire (28×28 pixels)">    </p:cNvPr>
          <p:cNvPicPr>
            <a:picLocks noChangeAspect="1"/>
          </p:cNvPicPr>
          <p:nvPr/>
        </p:nvPicPr>
        <p:blipFill>
          <a:blip r:embed="rId7"/>
          <a:stretch>
            <a:fillRect/>
          </a:stretch>
        </p:blipFill>
        <p:spPr>
          <a:xfrm>
            <a:off x="10168128" y="2697480"/>
            <a:ext cx="1252728" cy="1252728"/>
          </a:xfrm>
          <a:prstGeom prst="rect">
            <a:avLst/>
          </a:prstGeom>
        </p:spPr>
      </p:pic>
      <p:sp>
        <p:nvSpPr>
          <p:cNvPr id="21" name="Text 12"/>
          <p:cNvSpPr txBox="1"/>
          <p:nvPr/>
        </p:nvSpPr>
        <p:spPr>
          <a:xfrm>
            <a:off x="10168128" y="4041648"/>
            <a:ext cx="1252728" cy="822960"/>
          </a:xfrm>
          <a:prstGeom prst="rect">
            <a:avLst/>
          </a:prstGeom>
          <a:noFill/>
          <a:ln/>
        </p:spPr>
        <p:txBody>
          <a:bodyPr wrap="square" lIns="0" tIns="0" rIns="0" bIns="0" rtlCol="0" anchor="t"/>
          <a:lstStyle/>
          <a:p>
            <a:pPr indent="0" marL="0">
              <a:buNone/>
            </a:pPr>
            <a:r>
              <a:rPr lang="en-US" sz="1400" b="1" dirty="0">
                <a:solidFill>
                  <a:schemeClr val="tx1"/>
                </a:solidFill>
              </a:rPr>
              <a:t>vasc</a:t>
            </a:r>
            <a:endParaRPr lang="en-US" sz="1400" dirty="0"/>
          </a:p>
          <a:p>
            <a:pPr indent="0" marL="0">
              <a:buNone/>
            </a:pPr>
            <a:r>
              <a:rPr lang="en-US" sz="1200" dirty="0">
                <a:solidFill>
                  <a:schemeClr val="tx2"/>
                </a:solidFill>
              </a:rPr>
              <a:t>lésion vasculaire</a:t>
            </a:r>
            <a:endParaRPr lang="en-US" sz="1400" dirty="0"/>
          </a:p>
        </p:txBody>
      </p:sp>
      <p:sp>
        <p:nvSpPr>
          <p:cNvPr id="22" name="Text 13"/>
          <p:cNvSpPr txBox="1"/>
          <p:nvPr/>
        </p:nvSpPr>
        <p:spPr>
          <a:xfrm>
            <a:off x="548640" y="5303520"/>
            <a:ext cx="9144000" cy="365760"/>
          </a:xfrm>
          <a:prstGeom prst="rect">
            <a:avLst/>
          </a:prstGeom>
          <a:noFill/>
          <a:ln/>
        </p:spPr>
        <p:txBody>
          <a:bodyPr wrap="square" lIns="0" tIns="0" rIns="0" bIns="0" rtlCol="0" anchor="t"/>
          <a:lstStyle/>
          <a:p>
            <a:pPr indent="0" marL="0">
              <a:buNone/>
            </a:pPr>
            <a:r>
              <a:rPr lang="en-US" sz="1200" i="1" dirty="0">
                <a:solidFill>
                  <a:schemeClr val="tx2"/>
                </a:solidFill>
              </a:rPr>
              <a:t>Images réelles du jeu de données, à leur résolution de 28×28 pixels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Deux images sur trois sont des nævus</a:t>
            </a:r>
            <a:endParaRPr lang="en-US" sz="3000" dirty="0"/>
          </a:p>
        </p:txBody>
      </p:sp>
      <p:graphicFrame>
        <p:nvGraphicFramePr>
          <p:cNvPr id="3" name="graphique-effectifs" descr=""/>
          <p:cNvGraphicFramePr/>
          <p:nvPr/>
        </p:nvGraphicFramePr>
        <p:xfrm>
          <a:off x="548640" y="128016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stat-naevus-valeur"/>
          <p:cNvSpPr txBox="1"/>
          <p:nvPr/>
        </p:nvSpPr>
        <p:spPr>
          <a:xfrm>
            <a:off x="8046720" y="1463040"/>
            <a:ext cx="3657600" cy="86868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67 %</a:t>
            </a:r>
            <a:endParaRPr lang="en-US" sz="4800" dirty="0"/>
          </a:p>
        </p:txBody>
      </p:sp>
      <p:sp>
        <p:nvSpPr>
          <p:cNvPr id="5" name="stat-naevus-label"/>
          <p:cNvSpPr txBox="1"/>
          <p:nvPr/>
        </p:nvSpPr>
        <p:spPr>
          <a:xfrm>
            <a:off x="8046720" y="2331720"/>
            <a:ext cx="3657600" cy="731520"/>
          </a:xfrm>
          <a:prstGeom prst="rect">
            <a:avLst/>
          </a:prstGeom>
          <a:noFill/>
          <a:ln/>
        </p:spPr>
        <p:txBody>
          <a:bodyPr wrap="square" lIns="0" tIns="0" rIns="0" bIns="0" rtlCol="0" anchor="t"/>
          <a:lstStyle/>
          <a:p>
            <a:pPr indent="0" marL="0">
              <a:buNone/>
            </a:pPr>
            <a:r>
              <a:rPr lang="en-US" sz="1400" dirty="0">
                <a:solidFill>
                  <a:schemeClr val="tx2"/>
                </a:solidFill>
              </a:rPr>
              <a:t>de nævus : répondre toujours « nævus » donne déjà 67 % de précision</a:t>
            </a:r>
            <a:endParaRPr lang="en-US" sz="1400" dirty="0"/>
          </a:p>
        </p:txBody>
      </p:sp>
      <p:sp>
        <p:nvSpPr>
          <p:cNvPr id="6" name="stat-10pc-valeur"/>
          <p:cNvSpPr txBox="1"/>
          <p:nvPr/>
        </p:nvSpPr>
        <p:spPr>
          <a:xfrm>
            <a:off x="8046720" y="3108960"/>
            <a:ext cx="365760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701</a:t>
            </a:r>
            <a:endParaRPr lang="en-US" sz="4800" dirty="0"/>
          </a:p>
        </p:txBody>
      </p:sp>
      <p:sp>
        <p:nvSpPr>
          <p:cNvPr id="7" name="stat-10pc-label"/>
          <p:cNvSpPr txBox="1"/>
          <p:nvPr/>
        </p:nvSpPr>
        <p:spPr>
          <a:xfrm>
            <a:off x="8046720" y="3977640"/>
            <a:ext cx="3657600" cy="731520"/>
          </a:xfrm>
          <a:prstGeom prst="rect">
            <a:avLst/>
          </a:prstGeom>
          <a:noFill/>
          <a:ln/>
        </p:spPr>
        <p:txBody>
          <a:bodyPr wrap="square" lIns="0" tIns="0" rIns="0" bIns="0" rtlCol="0" anchor="t"/>
          <a:lstStyle/>
          <a:p>
            <a:pPr indent="0" marL="0">
              <a:buNone/>
            </a:pPr>
            <a:r>
              <a:rPr lang="en-US" sz="1400" dirty="0">
                <a:solidFill>
                  <a:schemeClr val="tx2"/>
                </a:solidFill>
              </a:rPr>
              <a:t>images dont le type est connu en régime 10 % (tirage stratifié) ; les autres n'ont que le groupe</a:t>
            </a:r>
            <a:endParaRPr lang="en-US" sz="1400" dirty="0"/>
          </a:p>
        </p:txBody>
      </p:sp>
      <p:sp>
        <p:nvSpPr>
          <p:cNvPr id="8" name="Text 5"/>
          <p:cNvSpPr txBox="1"/>
          <p:nvPr/>
        </p:nvSpPr>
        <p:spPr>
          <a:xfrm>
            <a:off x="8046720" y="4846320"/>
            <a:ext cx="3657600" cy="914400"/>
          </a:xfrm>
          <a:prstGeom prst="rect">
            <a:avLst/>
          </a:prstGeom>
          <a:noFill/>
          <a:ln/>
        </p:spPr>
        <p:txBody>
          <a:bodyPr wrap="square" lIns="0" tIns="0" rIns="0" bIns="0" rtlCol="0" anchor="t"/>
          <a:lstStyle/>
          <a:p>
            <a:pPr indent="0" marL="0">
              <a:buNone/>
            </a:pPr>
            <a:r>
              <a:rPr lang="en-US" sz="1400" dirty="0">
                <a:solidFill>
                  <a:schemeClr val="tx1"/>
                </a:solidFill>
              </a:rPr>
              <a:t>On suit donc la précision équilibrée, le rappel du mélanome et l'AUC bénin / malin.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La connaissance : chaque type implique un groupe</a:t>
            </a:r>
            <a:endParaRPr lang="en-US" sz="3000" dirty="0"/>
          </a:p>
        </p:txBody>
      </p:sp>
      <p:sp>
        <p:nvSpPr>
          <p:cNvPr id="3" name="noeud-malin"/>
          <p:cNvSpPr/>
          <p:nvPr/>
        </p:nvSpPr>
        <p:spPr>
          <a:xfrm>
            <a:off x="822960" y="1554480"/>
            <a:ext cx="2743200" cy="731520"/>
          </a:xfrm>
          <a:prstGeom prst="roundRect">
            <a:avLst>
              <a:gd name="adj" fmla="val 15000"/>
            </a:avLst>
          </a:prstGeom>
          <a:solidFill>
            <a:schemeClr val="accent1"/>
          </a:solidFill>
          <a:ln w="12700">
            <a:solidFill>
              <a:schemeClr val="accent1"/>
            </a:solidFill>
            <a:prstDash val="solid"/>
          </a:ln>
        </p:spPr>
      </p:sp>
      <p:sp>
        <p:nvSpPr>
          <p:cNvPr id="4" name="Text 2"/>
          <p:cNvSpPr txBox="1"/>
          <p:nvPr/>
        </p:nvSpPr>
        <p:spPr>
          <a:xfrm>
            <a:off x="822960" y="1554480"/>
            <a:ext cx="2743200" cy="731520"/>
          </a:xfrm>
          <a:prstGeom prst="rect">
            <a:avLst/>
          </a:prstGeom>
          <a:noFill/>
          <a:ln/>
        </p:spPr>
        <p:txBody>
          <a:bodyPr wrap="square" lIns="0" tIns="0" rIns="0" bIns="0" rtlCol="0" anchor="ctr"/>
          <a:lstStyle/>
          <a:p>
            <a:pPr algn="ctr" indent="0" marL="0">
              <a:buNone/>
            </a:pPr>
            <a:r>
              <a:rPr lang="en-US" sz="1800" b="1" dirty="0">
                <a:solidFill>
                  <a:schemeClr val="bg1"/>
                </a:solidFill>
              </a:rPr>
              <a:t>Malin / pré-malin</a:t>
            </a:r>
            <a:endParaRPr lang="en-US" sz="1800" dirty="0"/>
          </a:p>
        </p:txBody>
      </p:sp>
      <p:sp>
        <p:nvSpPr>
          <p:cNvPr id="5" name="noeud-benin"/>
          <p:cNvSpPr/>
          <p:nvPr/>
        </p:nvSpPr>
        <p:spPr>
          <a:xfrm>
            <a:off x="4023360" y="1554480"/>
            <a:ext cx="2743200" cy="731520"/>
          </a:xfrm>
          <a:prstGeom prst="roundRect">
            <a:avLst>
              <a:gd name="adj" fmla="val 15000"/>
            </a:avLst>
          </a:prstGeom>
          <a:solidFill>
            <a:schemeClr val="accent2"/>
          </a:solidFill>
          <a:ln w="12700">
            <a:solidFill>
              <a:schemeClr val="accent2"/>
            </a:solidFill>
            <a:prstDash val="solid"/>
          </a:ln>
        </p:spPr>
      </p:sp>
      <p:sp>
        <p:nvSpPr>
          <p:cNvPr id="6" name="Text 4"/>
          <p:cNvSpPr txBox="1"/>
          <p:nvPr/>
        </p:nvSpPr>
        <p:spPr>
          <a:xfrm>
            <a:off x="4023360" y="1554480"/>
            <a:ext cx="2743200" cy="731520"/>
          </a:xfrm>
          <a:prstGeom prst="rect">
            <a:avLst/>
          </a:prstGeom>
          <a:noFill/>
          <a:ln/>
        </p:spPr>
        <p:txBody>
          <a:bodyPr wrap="square" lIns="0" tIns="0" rIns="0" bIns="0" rtlCol="0" anchor="ctr"/>
          <a:lstStyle/>
          <a:p>
            <a:pPr algn="ctr" indent="0" marL="0">
              <a:buNone/>
            </a:pPr>
            <a:r>
              <a:rPr lang="en-US" sz="1800" b="1" dirty="0">
                <a:solidFill>
                  <a:schemeClr val="bg1"/>
                </a:solidFill>
              </a:rPr>
              <a:t>Bénin</a:t>
            </a:r>
            <a:endParaRPr lang="en-US" sz="1800" dirty="0"/>
          </a:p>
        </p:txBody>
      </p:sp>
      <p:sp>
        <p:nvSpPr>
          <p:cNvPr id="7" name="trait-malin-0"/>
          <p:cNvSpPr/>
          <p:nvPr/>
        </p:nvSpPr>
        <p:spPr>
          <a:xfrm>
            <a:off x="1143000" y="2286000"/>
            <a:ext cx="0" cy="685800"/>
          </a:xfrm>
          <a:prstGeom prst="line">
            <a:avLst/>
          </a:prstGeom>
          <a:noFill/>
          <a:ln w="19050">
            <a:solidFill>
              <a:srgbClr val="B8235A"/>
            </a:solidFill>
            <a:prstDash val="solid"/>
          </a:ln>
        </p:spPr>
      </p:sp>
      <p:sp>
        <p:nvSpPr>
          <p:cNvPr id="8" name="branche-malin-0"/>
          <p:cNvSpPr/>
          <p:nvPr/>
        </p:nvSpPr>
        <p:spPr>
          <a:xfrm>
            <a:off x="1143000" y="2971800"/>
            <a:ext cx="320040" cy="0"/>
          </a:xfrm>
          <a:prstGeom prst="line">
            <a:avLst/>
          </a:prstGeom>
          <a:noFill/>
          <a:ln w="19050">
            <a:solidFill>
              <a:srgbClr val="B8235A"/>
            </a:solidFill>
            <a:prstDash val="solid"/>
          </a:ln>
        </p:spPr>
      </p:sp>
      <p:sp>
        <p:nvSpPr>
          <p:cNvPr id="9" name="enfant-malin-0"/>
          <p:cNvSpPr/>
          <p:nvPr/>
        </p:nvSpPr>
        <p:spPr>
          <a:xfrm>
            <a:off x="1463040" y="2697480"/>
            <a:ext cx="2103120" cy="548640"/>
          </a:xfrm>
          <a:prstGeom prst="roundRect">
            <a:avLst>
              <a:gd name="adj" fmla="val 20000"/>
            </a:avLst>
          </a:prstGeom>
          <a:solidFill>
            <a:schemeClr val="bg2"/>
          </a:solidFill>
          <a:ln w="12700">
            <a:solidFill>
              <a:schemeClr val="bg2"/>
            </a:solidFill>
            <a:prstDash val="solid"/>
          </a:ln>
        </p:spPr>
      </p:sp>
      <p:sp>
        <p:nvSpPr>
          <p:cNvPr id="10" name="Text 8"/>
          <p:cNvSpPr txBox="1"/>
          <p:nvPr/>
        </p:nvSpPr>
        <p:spPr>
          <a:xfrm>
            <a:off x="1554480" y="2697480"/>
            <a:ext cx="2011680" cy="548640"/>
          </a:xfrm>
          <a:prstGeom prst="rect">
            <a:avLst/>
          </a:prstGeom>
          <a:noFill/>
          <a:ln/>
        </p:spPr>
        <p:txBody>
          <a:bodyPr wrap="square" lIns="0" tIns="0" rIns="0" bIns="0" rtlCol="0" anchor="ctr"/>
          <a:lstStyle/>
          <a:p>
            <a:pPr indent="0" marL="0">
              <a:buNone/>
            </a:pPr>
            <a:r>
              <a:rPr lang="en-US" sz="1500" dirty="0">
                <a:solidFill>
                  <a:schemeClr val="tx1"/>
                </a:solidFill>
              </a:rPr>
              <a:t>akiec</a:t>
            </a:r>
            <a:endParaRPr lang="en-US" sz="1500" dirty="0"/>
          </a:p>
        </p:txBody>
      </p:sp>
      <p:sp>
        <p:nvSpPr>
          <p:cNvPr id="11" name="trait-malin-1"/>
          <p:cNvSpPr/>
          <p:nvPr/>
        </p:nvSpPr>
        <p:spPr>
          <a:xfrm>
            <a:off x="1143000" y="2286000"/>
            <a:ext cx="0" cy="1371600"/>
          </a:xfrm>
          <a:prstGeom prst="line">
            <a:avLst/>
          </a:prstGeom>
          <a:noFill/>
          <a:ln w="19050">
            <a:solidFill>
              <a:srgbClr val="B8235A"/>
            </a:solidFill>
            <a:prstDash val="solid"/>
          </a:ln>
        </p:spPr>
      </p:sp>
      <p:sp>
        <p:nvSpPr>
          <p:cNvPr id="12" name="branche-malin-1"/>
          <p:cNvSpPr/>
          <p:nvPr/>
        </p:nvSpPr>
        <p:spPr>
          <a:xfrm>
            <a:off x="1143000" y="3657600"/>
            <a:ext cx="320040" cy="0"/>
          </a:xfrm>
          <a:prstGeom prst="line">
            <a:avLst/>
          </a:prstGeom>
          <a:noFill/>
          <a:ln w="19050">
            <a:solidFill>
              <a:srgbClr val="B8235A"/>
            </a:solidFill>
            <a:prstDash val="solid"/>
          </a:ln>
        </p:spPr>
      </p:sp>
      <p:sp>
        <p:nvSpPr>
          <p:cNvPr id="13" name="enfant-malin-1"/>
          <p:cNvSpPr/>
          <p:nvPr/>
        </p:nvSpPr>
        <p:spPr>
          <a:xfrm>
            <a:off x="1463040" y="3383280"/>
            <a:ext cx="2103120" cy="548640"/>
          </a:xfrm>
          <a:prstGeom prst="roundRect">
            <a:avLst>
              <a:gd name="adj" fmla="val 20000"/>
            </a:avLst>
          </a:prstGeom>
          <a:solidFill>
            <a:schemeClr val="bg2"/>
          </a:solidFill>
          <a:ln w="12700">
            <a:solidFill>
              <a:schemeClr val="bg2"/>
            </a:solidFill>
            <a:prstDash val="solid"/>
          </a:ln>
        </p:spPr>
      </p:sp>
      <p:sp>
        <p:nvSpPr>
          <p:cNvPr id="14" name="Text 12"/>
          <p:cNvSpPr txBox="1"/>
          <p:nvPr/>
        </p:nvSpPr>
        <p:spPr>
          <a:xfrm>
            <a:off x="1554480" y="3383280"/>
            <a:ext cx="2011680" cy="548640"/>
          </a:xfrm>
          <a:prstGeom prst="rect">
            <a:avLst/>
          </a:prstGeom>
          <a:noFill/>
          <a:ln/>
        </p:spPr>
        <p:txBody>
          <a:bodyPr wrap="square" lIns="0" tIns="0" rIns="0" bIns="0" rtlCol="0" anchor="ctr"/>
          <a:lstStyle/>
          <a:p>
            <a:pPr indent="0" marL="0">
              <a:buNone/>
            </a:pPr>
            <a:r>
              <a:rPr lang="en-US" sz="1500" dirty="0">
                <a:solidFill>
                  <a:schemeClr val="tx1"/>
                </a:solidFill>
              </a:rPr>
              <a:t>bcc</a:t>
            </a:r>
            <a:endParaRPr lang="en-US" sz="1500" dirty="0"/>
          </a:p>
        </p:txBody>
      </p:sp>
      <p:sp>
        <p:nvSpPr>
          <p:cNvPr id="15" name="trait-malin-2"/>
          <p:cNvSpPr/>
          <p:nvPr/>
        </p:nvSpPr>
        <p:spPr>
          <a:xfrm>
            <a:off x="1143000" y="2286000"/>
            <a:ext cx="0" cy="2057400"/>
          </a:xfrm>
          <a:prstGeom prst="line">
            <a:avLst/>
          </a:prstGeom>
          <a:noFill/>
          <a:ln w="19050">
            <a:solidFill>
              <a:srgbClr val="B8235A"/>
            </a:solidFill>
            <a:prstDash val="solid"/>
          </a:ln>
        </p:spPr>
      </p:sp>
      <p:sp>
        <p:nvSpPr>
          <p:cNvPr id="16" name="branche-malin-2"/>
          <p:cNvSpPr/>
          <p:nvPr/>
        </p:nvSpPr>
        <p:spPr>
          <a:xfrm>
            <a:off x="1143000" y="4343400"/>
            <a:ext cx="320040" cy="0"/>
          </a:xfrm>
          <a:prstGeom prst="line">
            <a:avLst/>
          </a:prstGeom>
          <a:noFill/>
          <a:ln w="19050">
            <a:solidFill>
              <a:srgbClr val="B8235A"/>
            </a:solidFill>
            <a:prstDash val="solid"/>
          </a:ln>
        </p:spPr>
      </p:sp>
      <p:sp>
        <p:nvSpPr>
          <p:cNvPr id="17" name="enfant-malin-2"/>
          <p:cNvSpPr/>
          <p:nvPr/>
        </p:nvSpPr>
        <p:spPr>
          <a:xfrm>
            <a:off x="1463040" y="4069080"/>
            <a:ext cx="2103120" cy="548640"/>
          </a:xfrm>
          <a:prstGeom prst="roundRect">
            <a:avLst>
              <a:gd name="adj" fmla="val 20000"/>
            </a:avLst>
          </a:prstGeom>
          <a:solidFill>
            <a:schemeClr val="bg2"/>
          </a:solidFill>
          <a:ln w="12700">
            <a:solidFill>
              <a:schemeClr val="bg2"/>
            </a:solidFill>
            <a:prstDash val="solid"/>
          </a:ln>
        </p:spPr>
      </p:sp>
      <p:sp>
        <p:nvSpPr>
          <p:cNvPr id="18" name="Text 16"/>
          <p:cNvSpPr txBox="1"/>
          <p:nvPr/>
        </p:nvSpPr>
        <p:spPr>
          <a:xfrm>
            <a:off x="1554480" y="4069080"/>
            <a:ext cx="2011680" cy="548640"/>
          </a:xfrm>
          <a:prstGeom prst="rect">
            <a:avLst/>
          </a:prstGeom>
          <a:noFill/>
          <a:ln/>
        </p:spPr>
        <p:txBody>
          <a:bodyPr wrap="square" lIns="0" tIns="0" rIns="0" bIns="0" rtlCol="0" anchor="ctr"/>
          <a:lstStyle/>
          <a:p>
            <a:pPr indent="0" marL="0">
              <a:buNone/>
            </a:pPr>
            <a:r>
              <a:rPr lang="en-US" sz="1500" dirty="0">
                <a:solidFill>
                  <a:schemeClr val="tx1"/>
                </a:solidFill>
              </a:rPr>
              <a:t>mel</a:t>
            </a:r>
            <a:endParaRPr lang="en-US" sz="1500" dirty="0"/>
          </a:p>
        </p:txBody>
      </p:sp>
      <p:sp>
        <p:nvSpPr>
          <p:cNvPr id="19" name="trait-benin-0"/>
          <p:cNvSpPr/>
          <p:nvPr/>
        </p:nvSpPr>
        <p:spPr>
          <a:xfrm>
            <a:off x="4343400" y="2286000"/>
            <a:ext cx="0" cy="685800"/>
          </a:xfrm>
          <a:prstGeom prst="line">
            <a:avLst/>
          </a:prstGeom>
          <a:noFill/>
          <a:ln w="19050">
            <a:solidFill>
              <a:srgbClr val="2A8C82"/>
            </a:solidFill>
            <a:prstDash val="solid"/>
          </a:ln>
        </p:spPr>
      </p:sp>
      <p:sp>
        <p:nvSpPr>
          <p:cNvPr id="20" name="branche-benin-0"/>
          <p:cNvSpPr/>
          <p:nvPr/>
        </p:nvSpPr>
        <p:spPr>
          <a:xfrm>
            <a:off x="4343400" y="2971800"/>
            <a:ext cx="320040" cy="0"/>
          </a:xfrm>
          <a:prstGeom prst="line">
            <a:avLst/>
          </a:prstGeom>
          <a:noFill/>
          <a:ln w="19050">
            <a:solidFill>
              <a:srgbClr val="2A8C82"/>
            </a:solidFill>
            <a:prstDash val="solid"/>
          </a:ln>
        </p:spPr>
      </p:sp>
      <p:sp>
        <p:nvSpPr>
          <p:cNvPr id="21" name="enfant-benin-0"/>
          <p:cNvSpPr/>
          <p:nvPr/>
        </p:nvSpPr>
        <p:spPr>
          <a:xfrm>
            <a:off x="4663440" y="2697480"/>
            <a:ext cx="2103120" cy="548640"/>
          </a:xfrm>
          <a:prstGeom prst="roundRect">
            <a:avLst>
              <a:gd name="adj" fmla="val 20000"/>
            </a:avLst>
          </a:prstGeom>
          <a:solidFill>
            <a:schemeClr val="bg2"/>
          </a:solidFill>
          <a:ln w="12700">
            <a:solidFill>
              <a:schemeClr val="bg2"/>
            </a:solidFill>
            <a:prstDash val="solid"/>
          </a:ln>
        </p:spPr>
      </p:sp>
      <p:sp>
        <p:nvSpPr>
          <p:cNvPr id="22" name="Text 20"/>
          <p:cNvSpPr txBox="1"/>
          <p:nvPr/>
        </p:nvSpPr>
        <p:spPr>
          <a:xfrm>
            <a:off x="4754880" y="2697480"/>
            <a:ext cx="2011680" cy="548640"/>
          </a:xfrm>
          <a:prstGeom prst="rect">
            <a:avLst/>
          </a:prstGeom>
          <a:noFill/>
          <a:ln/>
        </p:spPr>
        <p:txBody>
          <a:bodyPr wrap="square" lIns="0" tIns="0" rIns="0" bIns="0" rtlCol="0" anchor="ctr"/>
          <a:lstStyle/>
          <a:p>
            <a:pPr indent="0" marL="0">
              <a:buNone/>
            </a:pPr>
            <a:r>
              <a:rPr lang="en-US" sz="1500" dirty="0">
                <a:solidFill>
                  <a:schemeClr val="tx1"/>
                </a:solidFill>
              </a:rPr>
              <a:t>bkl</a:t>
            </a:r>
            <a:endParaRPr lang="en-US" sz="1500" dirty="0"/>
          </a:p>
        </p:txBody>
      </p:sp>
      <p:sp>
        <p:nvSpPr>
          <p:cNvPr id="23" name="trait-benin-1"/>
          <p:cNvSpPr/>
          <p:nvPr/>
        </p:nvSpPr>
        <p:spPr>
          <a:xfrm>
            <a:off x="4343400" y="2286000"/>
            <a:ext cx="0" cy="1371600"/>
          </a:xfrm>
          <a:prstGeom prst="line">
            <a:avLst/>
          </a:prstGeom>
          <a:noFill/>
          <a:ln w="19050">
            <a:solidFill>
              <a:srgbClr val="2A8C82"/>
            </a:solidFill>
            <a:prstDash val="solid"/>
          </a:ln>
        </p:spPr>
      </p:sp>
      <p:sp>
        <p:nvSpPr>
          <p:cNvPr id="24" name="branche-benin-1"/>
          <p:cNvSpPr/>
          <p:nvPr/>
        </p:nvSpPr>
        <p:spPr>
          <a:xfrm>
            <a:off x="4343400" y="3657600"/>
            <a:ext cx="320040" cy="0"/>
          </a:xfrm>
          <a:prstGeom prst="line">
            <a:avLst/>
          </a:prstGeom>
          <a:noFill/>
          <a:ln w="19050">
            <a:solidFill>
              <a:srgbClr val="2A8C82"/>
            </a:solidFill>
            <a:prstDash val="solid"/>
          </a:ln>
        </p:spPr>
      </p:sp>
      <p:sp>
        <p:nvSpPr>
          <p:cNvPr id="25" name="enfant-benin-1"/>
          <p:cNvSpPr/>
          <p:nvPr/>
        </p:nvSpPr>
        <p:spPr>
          <a:xfrm>
            <a:off x="4663440" y="3383280"/>
            <a:ext cx="2103120" cy="548640"/>
          </a:xfrm>
          <a:prstGeom prst="roundRect">
            <a:avLst>
              <a:gd name="adj" fmla="val 20000"/>
            </a:avLst>
          </a:prstGeom>
          <a:solidFill>
            <a:schemeClr val="bg2"/>
          </a:solidFill>
          <a:ln w="12700">
            <a:solidFill>
              <a:schemeClr val="bg2"/>
            </a:solidFill>
            <a:prstDash val="solid"/>
          </a:ln>
        </p:spPr>
      </p:sp>
      <p:sp>
        <p:nvSpPr>
          <p:cNvPr id="26" name="Text 24"/>
          <p:cNvSpPr txBox="1"/>
          <p:nvPr/>
        </p:nvSpPr>
        <p:spPr>
          <a:xfrm>
            <a:off x="4754880" y="3383280"/>
            <a:ext cx="2011680" cy="548640"/>
          </a:xfrm>
          <a:prstGeom prst="rect">
            <a:avLst/>
          </a:prstGeom>
          <a:noFill/>
          <a:ln/>
        </p:spPr>
        <p:txBody>
          <a:bodyPr wrap="square" lIns="0" tIns="0" rIns="0" bIns="0" rtlCol="0" anchor="ctr"/>
          <a:lstStyle/>
          <a:p>
            <a:pPr indent="0" marL="0">
              <a:buNone/>
            </a:pPr>
            <a:r>
              <a:rPr lang="en-US" sz="1500" dirty="0">
                <a:solidFill>
                  <a:schemeClr val="tx1"/>
                </a:solidFill>
              </a:rPr>
              <a:t>df</a:t>
            </a:r>
            <a:endParaRPr lang="en-US" sz="1500" dirty="0"/>
          </a:p>
        </p:txBody>
      </p:sp>
      <p:sp>
        <p:nvSpPr>
          <p:cNvPr id="27" name="trait-benin-2"/>
          <p:cNvSpPr/>
          <p:nvPr/>
        </p:nvSpPr>
        <p:spPr>
          <a:xfrm>
            <a:off x="4343400" y="2286000"/>
            <a:ext cx="0" cy="2057400"/>
          </a:xfrm>
          <a:prstGeom prst="line">
            <a:avLst/>
          </a:prstGeom>
          <a:noFill/>
          <a:ln w="19050">
            <a:solidFill>
              <a:srgbClr val="2A8C82"/>
            </a:solidFill>
            <a:prstDash val="solid"/>
          </a:ln>
        </p:spPr>
      </p:sp>
      <p:sp>
        <p:nvSpPr>
          <p:cNvPr id="28" name="branche-benin-2"/>
          <p:cNvSpPr/>
          <p:nvPr/>
        </p:nvSpPr>
        <p:spPr>
          <a:xfrm>
            <a:off x="4343400" y="4343400"/>
            <a:ext cx="320040" cy="0"/>
          </a:xfrm>
          <a:prstGeom prst="line">
            <a:avLst/>
          </a:prstGeom>
          <a:noFill/>
          <a:ln w="19050">
            <a:solidFill>
              <a:srgbClr val="2A8C82"/>
            </a:solidFill>
            <a:prstDash val="solid"/>
          </a:ln>
        </p:spPr>
      </p:sp>
      <p:sp>
        <p:nvSpPr>
          <p:cNvPr id="29" name="enfant-benin-2"/>
          <p:cNvSpPr/>
          <p:nvPr/>
        </p:nvSpPr>
        <p:spPr>
          <a:xfrm>
            <a:off x="4663440" y="4069080"/>
            <a:ext cx="2103120" cy="548640"/>
          </a:xfrm>
          <a:prstGeom prst="roundRect">
            <a:avLst>
              <a:gd name="adj" fmla="val 20000"/>
            </a:avLst>
          </a:prstGeom>
          <a:solidFill>
            <a:schemeClr val="bg2"/>
          </a:solidFill>
          <a:ln w="12700">
            <a:solidFill>
              <a:schemeClr val="bg2"/>
            </a:solidFill>
            <a:prstDash val="solid"/>
          </a:ln>
        </p:spPr>
      </p:sp>
      <p:sp>
        <p:nvSpPr>
          <p:cNvPr id="30" name="Text 28"/>
          <p:cNvSpPr txBox="1"/>
          <p:nvPr/>
        </p:nvSpPr>
        <p:spPr>
          <a:xfrm>
            <a:off x="4754880" y="4069080"/>
            <a:ext cx="2011680" cy="548640"/>
          </a:xfrm>
          <a:prstGeom prst="rect">
            <a:avLst/>
          </a:prstGeom>
          <a:noFill/>
          <a:ln/>
        </p:spPr>
        <p:txBody>
          <a:bodyPr wrap="square" lIns="0" tIns="0" rIns="0" bIns="0" rtlCol="0" anchor="ctr"/>
          <a:lstStyle/>
          <a:p>
            <a:pPr indent="0" marL="0">
              <a:buNone/>
            </a:pPr>
            <a:r>
              <a:rPr lang="en-US" sz="1500" dirty="0">
                <a:solidFill>
                  <a:schemeClr val="tx1"/>
                </a:solidFill>
              </a:rPr>
              <a:t>nv</a:t>
            </a:r>
            <a:endParaRPr lang="en-US" sz="1500" dirty="0"/>
          </a:p>
        </p:txBody>
      </p:sp>
      <p:sp>
        <p:nvSpPr>
          <p:cNvPr id="31" name="trait-benin-3"/>
          <p:cNvSpPr/>
          <p:nvPr/>
        </p:nvSpPr>
        <p:spPr>
          <a:xfrm>
            <a:off x="4343400" y="2286000"/>
            <a:ext cx="0" cy="2743200"/>
          </a:xfrm>
          <a:prstGeom prst="line">
            <a:avLst/>
          </a:prstGeom>
          <a:noFill/>
          <a:ln w="19050">
            <a:solidFill>
              <a:srgbClr val="2A8C82"/>
            </a:solidFill>
            <a:prstDash val="solid"/>
          </a:ln>
        </p:spPr>
      </p:sp>
      <p:sp>
        <p:nvSpPr>
          <p:cNvPr id="32" name="branche-benin-3"/>
          <p:cNvSpPr/>
          <p:nvPr/>
        </p:nvSpPr>
        <p:spPr>
          <a:xfrm>
            <a:off x="4343400" y="5029200"/>
            <a:ext cx="320040" cy="0"/>
          </a:xfrm>
          <a:prstGeom prst="line">
            <a:avLst/>
          </a:prstGeom>
          <a:noFill/>
          <a:ln w="19050">
            <a:solidFill>
              <a:srgbClr val="2A8C82"/>
            </a:solidFill>
            <a:prstDash val="solid"/>
          </a:ln>
        </p:spPr>
      </p:sp>
      <p:sp>
        <p:nvSpPr>
          <p:cNvPr id="33" name="enfant-benin-3"/>
          <p:cNvSpPr/>
          <p:nvPr/>
        </p:nvSpPr>
        <p:spPr>
          <a:xfrm>
            <a:off x="4663440" y="4754880"/>
            <a:ext cx="2103120" cy="548640"/>
          </a:xfrm>
          <a:prstGeom prst="roundRect">
            <a:avLst>
              <a:gd name="adj" fmla="val 20000"/>
            </a:avLst>
          </a:prstGeom>
          <a:solidFill>
            <a:schemeClr val="bg2"/>
          </a:solidFill>
          <a:ln w="12700">
            <a:solidFill>
              <a:schemeClr val="bg2"/>
            </a:solidFill>
            <a:prstDash val="solid"/>
          </a:ln>
        </p:spPr>
      </p:sp>
      <p:sp>
        <p:nvSpPr>
          <p:cNvPr id="34" name="Text 32"/>
          <p:cNvSpPr txBox="1"/>
          <p:nvPr/>
        </p:nvSpPr>
        <p:spPr>
          <a:xfrm>
            <a:off x="4754880" y="4754880"/>
            <a:ext cx="2011680" cy="548640"/>
          </a:xfrm>
          <a:prstGeom prst="rect">
            <a:avLst/>
          </a:prstGeom>
          <a:noFill/>
          <a:ln/>
        </p:spPr>
        <p:txBody>
          <a:bodyPr wrap="square" lIns="0" tIns="0" rIns="0" bIns="0" rtlCol="0" anchor="ctr"/>
          <a:lstStyle/>
          <a:p>
            <a:pPr indent="0" marL="0">
              <a:buNone/>
            </a:pPr>
            <a:r>
              <a:rPr lang="en-US" sz="1500" dirty="0">
                <a:solidFill>
                  <a:schemeClr val="tx1"/>
                </a:solidFill>
              </a:rPr>
              <a:t>vasc</a:t>
            </a:r>
            <a:endParaRPr lang="en-US" sz="1500" dirty="0"/>
          </a:p>
        </p:txBody>
      </p:sp>
      <p:sp>
        <p:nvSpPr>
          <p:cNvPr id="35" name="carte-regle"/>
          <p:cNvSpPr/>
          <p:nvPr/>
        </p:nvSpPr>
        <p:spPr>
          <a:xfrm>
            <a:off x="7406640" y="1554480"/>
            <a:ext cx="4206240" cy="1600200"/>
          </a:xfrm>
          <a:prstGeom prst="roundRect">
            <a:avLst>
              <a:gd name="adj" fmla="val 6857"/>
            </a:avLst>
          </a:prstGeom>
          <a:solidFill>
            <a:schemeClr val="bg2"/>
          </a:solidFill>
          <a:ln w="12700">
            <a:solidFill>
              <a:schemeClr val="bg2"/>
            </a:solidFill>
            <a:prstDash val="solid"/>
          </a:ln>
        </p:spPr>
      </p:sp>
      <p:sp>
        <p:nvSpPr>
          <p:cNvPr id="36" name="Text 34"/>
          <p:cNvSpPr txBox="1"/>
          <p:nvPr/>
        </p:nvSpPr>
        <p:spPr>
          <a:xfrm>
            <a:off x="7635240" y="1691640"/>
            <a:ext cx="3840480" cy="1371600"/>
          </a:xfrm>
          <a:prstGeom prst="rect">
            <a:avLst/>
          </a:prstGeom>
          <a:noFill/>
          <a:ln/>
        </p:spPr>
        <p:txBody>
          <a:bodyPr wrap="square" lIns="0" tIns="0" rIns="0" bIns="0" rtlCol="0" anchor="t"/>
          <a:lstStyle/>
          <a:p>
            <a:pPr indent="0" marL="0">
              <a:buNone/>
            </a:pPr>
            <a:r>
              <a:rPr lang="en-US" sz="1800" b="1" dirty="0">
                <a:solidFill>
                  <a:schemeClr val="accent1"/>
                </a:solidFill>
              </a:rPr>
              <a:t>La règle</a:t>
            </a:r>
            <a:endParaRPr lang="en-US" sz="1600" dirty="0"/>
          </a:p>
          <a:p>
            <a:pPr indent="0" marL="0">
              <a:buNone/>
            </a:pPr>
            <a:r>
              <a:rPr lang="en-US" sz="2200" dirty="0">
                <a:solidFill>
                  <a:schemeClr val="tx1"/>
                </a:solidFill>
                <a:latin typeface="Cambria" pitchFamily="34" charset="0"/>
                <a:ea typeface="Cambria" pitchFamily="34" charset="-122"/>
                <a:cs typeface="Cambria" pitchFamily="34" charset="-120"/>
              </a:rPr>
              <a:t>type = k  ⇒  groupe = g(k)</a:t>
            </a:r>
            <a:endParaRPr lang="en-US" sz="1600" dirty="0"/>
          </a:p>
          <a:p>
            <a:pPr indent="0" marL="0">
              <a:buNone/>
            </a:pPr>
            <a:r>
              <a:rPr lang="en-US" sz="1400" dirty="0">
                <a:solidFill>
                  <a:schemeClr val="tx2"/>
                </a:solidFill>
              </a:rPr>
              <a:t>codée par une matrice H de 7 × 2</a:t>
            </a:r>
            <a:endParaRPr lang="en-US" sz="1600" dirty="0"/>
          </a:p>
        </p:txBody>
      </p:sp>
      <p:sp>
        <p:nvSpPr>
          <p:cNvPr id="37" name="Text 35"/>
          <p:cNvSpPr txBox="1"/>
          <p:nvPr/>
        </p:nvSpPr>
        <p:spPr>
          <a:xfrm>
            <a:off x="7406640" y="3474720"/>
            <a:ext cx="4206240" cy="1188720"/>
          </a:xfrm>
          <a:prstGeom prst="rect">
            <a:avLst/>
          </a:prstGeom>
          <a:noFill/>
          <a:ln/>
        </p:spPr>
        <p:txBody>
          <a:bodyPr wrap="square" lIns="0" tIns="0" rIns="0" bIns="0" rtlCol="0" anchor="t"/>
          <a:lstStyle/>
          <a:p>
            <a:pPr indent="0" marL="0">
              <a:buNone/>
            </a:pPr>
            <a:r>
              <a:rPr lang="en-US" sz="1400" b="1" dirty="0">
                <a:solidFill>
                  <a:schemeClr val="tx1"/>
                </a:solidFill>
              </a:rPr>
              <a:t>Pourquoi akiec est « malin » : </a:t>
            </a:r>
            <a:pPr indent="0" marL="0">
              <a:buNone/>
            </a:pPr>
            <a:r>
              <a:rPr lang="en-US" sz="1400" dirty="0">
                <a:solidFill>
                  <a:schemeClr val="tx1"/>
                </a:solidFill>
              </a:rPr>
              <a:t>lésion pré-maligne, à faible risque d'évolution (de Berker et al., 2017) ; en dépistage, on choisit de la traiter comme un cancer. Regroupement inspiré de HAM10000 (Tschandl et al., 2018).</a:t>
            </a:r>
            <a:endParaRPr lang="en-US" sz="1400" dirty="0"/>
          </a:p>
        </p:txBody>
      </p:sp>
      <p:sp>
        <p:nvSpPr>
          <p:cNvPr id="38" name="Text 36"/>
          <p:cNvSpPr txBox="1"/>
          <p:nvPr/>
        </p:nvSpPr>
        <p:spPr>
          <a:xfrm>
            <a:off x="7406640" y="4800600"/>
            <a:ext cx="4206240" cy="1097280"/>
          </a:xfrm>
          <a:prstGeom prst="rect">
            <a:avLst/>
          </a:prstGeom>
          <a:noFill/>
          <a:ln/>
        </p:spPr>
        <p:txBody>
          <a:bodyPr wrap="square" lIns="0" tIns="0" rIns="0" bIns="0" rtlCol="0" anchor="t"/>
          <a:lstStyle/>
          <a:p>
            <a:pPr indent="0" marL="0">
              <a:buNone/>
            </a:pPr>
            <a:r>
              <a:rPr lang="en-US" sz="1400" b="1" dirty="0">
                <a:solidFill>
                  <a:schemeClr val="tx1"/>
                </a:solidFill>
              </a:rPr>
              <a:t>Lien avec le TP MNIST : </a:t>
            </a:r>
            <a:pPr indent="0" marL="0">
              <a:buNone/>
            </a:pPr>
            <a:r>
              <a:rPr lang="en-US" sz="1400" dirty="0">
                <a:solidFill>
                  <a:schemeClr val="tx1"/>
                </a:solidFill>
              </a:rPr>
              <a:t>la somme reliait une étiquette globale aux chiffres ; ici le groupe relie une étiquette globale aux types.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Trois modèles, un même réseau, des briques en plus</a:t>
            </a:r>
            <a:endParaRPr lang="en-US" sz="3000" dirty="0"/>
          </a:p>
        </p:txBody>
      </p:sp>
      <p:sp>
        <p:nvSpPr>
          <p:cNvPr id="3" name="n-image"/>
          <p:cNvSpPr/>
          <p:nvPr/>
        </p:nvSpPr>
        <p:spPr>
          <a:xfrm>
            <a:off x="548640" y="2377440"/>
            <a:ext cx="1188720" cy="914400"/>
          </a:xfrm>
          <a:prstGeom prst="roundRect">
            <a:avLst>
              <a:gd name="adj" fmla="val 12000"/>
            </a:avLst>
          </a:prstGeom>
          <a:solidFill>
            <a:schemeClr val="bg2"/>
          </a:solidFill>
          <a:ln w="12700">
            <a:solidFill>
              <a:schemeClr val="bg2"/>
            </a:solidFill>
            <a:prstDash val="solid"/>
          </a:ln>
        </p:spPr>
      </p:sp>
      <p:sp>
        <p:nvSpPr>
          <p:cNvPr id="4" name="Text 2"/>
          <p:cNvSpPr txBox="1"/>
          <p:nvPr/>
        </p:nvSpPr>
        <p:spPr>
          <a:xfrm>
            <a:off x="548640" y="2377440"/>
            <a:ext cx="1188720" cy="914400"/>
          </a:xfrm>
          <a:prstGeom prst="rect">
            <a:avLst/>
          </a:prstGeom>
          <a:noFill/>
          <a:ln/>
        </p:spPr>
        <p:txBody>
          <a:bodyPr wrap="square" lIns="0" tIns="0" rIns="0" bIns="0" rtlCol="0" anchor="ctr"/>
          <a:lstStyle/>
          <a:p>
            <a:pPr algn="ctr" indent="0" marL="0">
              <a:buNone/>
            </a:pPr>
            <a:r>
              <a:rPr lang="en-US" sz="1500" b="1" dirty="0">
                <a:solidFill>
                  <a:schemeClr val="tx1"/>
                </a:solidFill>
              </a:rPr>
              <a:t>Image</a:t>
            </a:r>
            <a:endParaRPr lang="en-US" sz="1500" dirty="0"/>
          </a:p>
          <a:p>
            <a:pPr algn="ctr" indent="0" marL="0">
              <a:buNone/>
            </a:pPr>
            <a:r>
              <a:rPr lang="en-US" sz="1500" b="1" dirty="0">
                <a:solidFill>
                  <a:schemeClr val="tx1"/>
                </a:solidFill>
              </a:rPr>
              <a:t>28×28</a:t>
            </a:r>
            <a:endParaRPr lang="en-US" sz="1500" dirty="0"/>
          </a:p>
        </p:txBody>
      </p:sp>
      <p:sp>
        <p:nvSpPr>
          <p:cNvPr id="5" name="n-tronc"/>
          <p:cNvSpPr/>
          <p:nvPr/>
        </p:nvSpPr>
        <p:spPr>
          <a:xfrm>
            <a:off x="2103120" y="2377440"/>
            <a:ext cx="1737360" cy="914400"/>
          </a:xfrm>
          <a:prstGeom prst="roundRect">
            <a:avLst>
              <a:gd name="adj" fmla="val 12000"/>
            </a:avLst>
          </a:prstGeom>
          <a:solidFill>
            <a:schemeClr val="tx2"/>
          </a:solidFill>
          <a:ln w="12700">
            <a:solidFill>
              <a:schemeClr val="tx2"/>
            </a:solidFill>
            <a:prstDash val="solid"/>
          </a:ln>
        </p:spPr>
      </p:sp>
      <p:sp>
        <p:nvSpPr>
          <p:cNvPr id="6" name="Text 4"/>
          <p:cNvSpPr txBox="1"/>
          <p:nvPr/>
        </p:nvSpPr>
        <p:spPr>
          <a:xfrm>
            <a:off x="2103120" y="2377440"/>
            <a:ext cx="1737360" cy="914400"/>
          </a:xfrm>
          <a:prstGeom prst="rect">
            <a:avLst/>
          </a:prstGeom>
          <a:noFill/>
          <a:ln/>
        </p:spPr>
        <p:txBody>
          <a:bodyPr wrap="square" lIns="0" tIns="0" rIns="0" bIns="0" rtlCol="0" anchor="ctr"/>
          <a:lstStyle/>
          <a:p>
            <a:pPr algn="ctr" indent="0" marL="0">
              <a:buNone/>
            </a:pPr>
            <a:r>
              <a:rPr lang="en-US" sz="1500" b="1" dirty="0">
                <a:solidFill>
                  <a:schemeClr val="bg1"/>
                </a:solidFill>
              </a:rPr>
              <a:t>Tronc CNN</a:t>
            </a:r>
            <a:endParaRPr lang="en-US" sz="1500" dirty="0"/>
          </a:p>
          <a:p>
            <a:pPr algn="ctr" indent="0" marL="0">
              <a:buNone/>
            </a:pPr>
            <a:r>
              <a:rPr lang="en-US" sz="1500" b="1" dirty="0">
                <a:solidFill>
                  <a:schemeClr val="bg1"/>
                </a:solidFill>
              </a:rPr>
              <a:t>34 000 param.</a:t>
            </a:r>
            <a:endParaRPr lang="en-US" sz="1500" dirty="0"/>
          </a:p>
        </p:txBody>
      </p:sp>
      <p:sp>
        <p:nvSpPr>
          <p:cNvPr id="7" name="n-type"/>
          <p:cNvSpPr/>
          <p:nvPr/>
        </p:nvSpPr>
        <p:spPr>
          <a:xfrm>
            <a:off x="4434840" y="1463040"/>
            <a:ext cx="1828800" cy="822960"/>
          </a:xfrm>
          <a:prstGeom prst="roundRect">
            <a:avLst>
              <a:gd name="adj" fmla="val 13333"/>
            </a:avLst>
          </a:prstGeom>
          <a:solidFill>
            <a:schemeClr val="bg2"/>
          </a:solidFill>
          <a:ln w="12700">
            <a:solidFill>
              <a:schemeClr val="bg2"/>
            </a:solidFill>
            <a:prstDash val="solid"/>
          </a:ln>
        </p:spPr>
      </p:sp>
      <p:sp>
        <p:nvSpPr>
          <p:cNvPr id="8" name="Text 6"/>
          <p:cNvSpPr txBox="1"/>
          <p:nvPr/>
        </p:nvSpPr>
        <p:spPr>
          <a:xfrm>
            <a:off x="4434840" y="1463040"/>
            <a:ext cx="1828800" cy="822960"/>
          </a:xfrm>
          <a:prstGeom prst="rect">
            <a:avLst/>
          </a:prstGeom>
          <a:noFill/>
          <a:ln/>
        </p:spPr>
        <p:txBody>
          <a:bodyPr wrap="square" lIns="0" tIns="0" rIns="0" bIns="0" rtlCol="0" anchor="ctr"/>
          <a:lstStyle/>
          <a:p>
            <a:pPr algn="ctr" indent="0" marL="0">
              <a:buNone/>
            </a:pPr>
            <a:r>
              <a:rPr lang="en-US" sz="1500" b="1" dirty="0">
                <a:solidFill>
                  <a:schemeClr val="tx1"/>
                </a:solidFill>
              </a:rPr>
              <a:t>Tête type (7)</a:t>
            </a:r>
            <a:endParaRPr lang="en-US" sz="1500" dirty="0"/>
          </a:p>
        </p:txBody>
      </p:sp>
      <p:sp>
        <p:nvSpPr>
          <p:cNvPr id="9" name="n-groupe"/>
          <p:cNvSpPr/>
          <p:nvPr/>
        </p:nvSpPr>
        <p:spPr>
          <a:xfrm>
            <a:off x="4434840" y="3383280"/>
            <a:ext cx="1828800" cy="822960"/>
          </a:xfrm>
          <a:prstGeom prst="roundRect">
            <a:avLst>
              <a:gd name="adj" fmla="val 13333"/>
            </a:avLst>
          </a:prstGeom>
          <a:solidFill>
            <a:schemeClr val="bg2"/>
          </a:solidFill>
          <a:ln w="12700">
            <a:solidFill>
              <a:schemeClr val="bg2"/>
            </a:solidFill>
            <a:prstDash val="solid"/>
          </a:ln>
        </p:spPr>
      </p:sp>
      <p:sp>
        <p:nvSpPr>
          <p:cNvPr id="10" name="Text 8"/>
          <p:cNvSpPr txBox="1"/>
          <p:nvPr/>
        </p:nvSpPr>
        <p:spPr>
          <a:xfrm>
            <a:off x="4434840" y="3383280"/>
            <a:ext cx="1828800" cy="822960"/>
          </a:xfrm>
          <a:prstGeom prst="rect">
            <a:avLst/>
          </a:prstGeom>
          <a:noFill/>
          <a:ln/>
        </p:spPr>
        <p:txBody>
          <a:bodyPr wrap="square" lIns="0" tIns="0" rIns="0" bIns="0" rtlCol="0" anchor="ctr"/>
          <a:lstStyle/>
          <a:p>
            <a:pPr algn="ctr" indent="0" marL="0">
              <a:buNone/>
            </a:pPr>
            <a:r>
              <a:rPr lang="en-US" sz="1500" b="1" dirty="0">
                <a:solidFill>
                  <a:schemeClr val="tx1"/>
                </a:solidFill>
              </a:rPr>
              <a:t>Tête groupe (2)</a:t>
            </a:r>
            <a:endParaRPr lang="en-US" sz="1500" dirty="0"/>
          </a:p>
        </p:txBody>
      </p:sp>
      <p:sp>
        <p:nvSpPr>
          <p:cNvPr id="11" name="n-decodage"/>
          <p:cNvSpPr/>
          <p:nvPr/>
        </p:nvSpPr>
        <p:spPr>
          <a:xfrm>
            <a:off x="6903720" y="2331720"/>
            <a:ext cx="1737360" cy="1005840"/>
          </a:xfrm>
          <a:prstGeom prst="roundRect">
            <a:avLst>
              <a:gd name="adj" fmla="val 10909"/>
            </a:avLst>
          </a:prstGeom>
          <a:solidFill>
            <a:schemeClr val="accent1"/>
          </a:solidFill>
          <a:ln w="12700">
            <a:solidFill>
              <a:schemeClr val="accent1"/>
            </a:solidFill>
            <a:prstDash val="solid"/>
          </a:ln>
        </p:spPr>
      </p:sp>
      <p:sp>
        <p:nvSpPr>
          <p:cNvPr id="12" name="Text 10"/>
          <p:cNvSpPr txBox="1"/>
          <p:nvPr/>
        </p:nvSpPr>
        <p:spPr>
          <a:xfrm>
            <a:off x="6903720" y="2331720"/>
            <a:ext cx="1737360" cy="1005840"/>
          </a:xfrm>
          <a:prstGeom prst="rect">
            <a:avLst/>
          </a:prstGeom>
          <a:noFill/>
          <a:ln/>
        </p:spPr>
        <p:txBody>
          <a:bodyPr wrap="square" lIns="0" tIns="0" rIns="0" bIns="0" rtlCol="0" anchor="ctr"/>
          <a:lstStyle/>
          <a:p>
            <a:pPr algn="ctr" indent="0" marL="0">
              <a:buNone/>
            </a:pPr>
            <a:r>
              <a:rPr lang="en-US" sz="1500" b="1" dirty="0">
                <a:solidFill>
                  <a:schemeClr val="bg1"/>
                </a:solidFill>
              </a:rPr>
              <a:t>Décodage</a:t>
            </a:r>
            <a:endParaRPr lang="en-US" sz="1500" dirty="0"/>
          </a:p>
          <a:p>
            <a:pPr algn="ctr" indent="0" marL="0">
              <a:buNone/>
            </a:pPr>
            <a:r>
              <a:rPr lang="en-US" sz="1500" b="1" dirty="0">
                <a:solidFill>
                  <a:schemeClr val="bg1"/>
                </a:solidFill>
              </a:rPr>
              <a:t>cohérent</a:t>
            </a:r>
            <a:endParaRPr lang="en-US" sz="1500" dirty="0"/>
          </a:p>
        </p:txBody>
      </p:sp>
      <p:sp>
        <p:nvSpPr>
          <p:cNvPr id="13" name="f-1"/>
          <p:cNvSpPr/>
          <p:nvPr/>
        </p:nvSpPr>
        <p:spPr>
          <a:xfrm>
            <a:off x="1737360" y="2834640"/>
            <a:ext cx="365760" cy="0"/>
          </a:xfrm>
          <a:prstGeom prst="line">
            <a:avLst/>
          </a:prstGeom>
          <a:noFill/>
          <a:ln w="19050">
            <a:solidFill>
              <a:srgbClr val="5E4A63"/>
            </a:solidFill>
            <a:prstDash val="solid"/>
            <a:tailEnd type="triangle"/>
          </a:ln>
        </p:spPr>
      </p:sp>
      <p:sp>
        <p:nvSpPr>
          <p:cNvPr id="14" name="f-2"/>
          <p:cNvSpPr/>
          <p:nvPr/>
        </p:nvSpPr>
        <p:spPr>
          <a:xfrm flipV="1">
            <a:off x="3840480" y="1874520"/>
            <a:ext cx="594360" cy="868680"/>
          </a:xfrm>
          <a:prstGeom prst="line">
            <a:avLst/>
          </a:prstGeom>
          <a:noFill/>
          <a:ln w="19050">
            <a:solidFill>
              <a:srgbClr val="5E4A63"/>
            </a:solidFill>
            <a:prstDash val="solid"/>
            <a:tailEnd type="triangle"/>
          </a:ln>
        </p:spPr>
      </p:sp>
      <p:sp>
        <p:nvSpPr>
          <p:cNvPr id="15" name="f-3"/>
          <p:cNvSpPr/>
          <p:nvPr/>
        </p:nvSpPr>
        <p:spPr>
          <a:xfrm>
            <a:off x="3840480" y="2926080"/>
            <a:ext cx="594360" cy="868680"/>
          </a:xfrm>
          <a:prstGeom prst="line">
            <a:avLst/>
          </a:prstGeom>
          <a:noFill/>
          <a:ln w="19050">
            <a:solidFill>
              <a:srgbClr val="5E4A63"/>
            </a:solidFill>
            <a:prstDash val="solid"/>
            <a:tailEnd type="triangle"/>
          </a:ln>
        </p:spPr>
      </p:sp>
      <p:sp>
        <p:nvSpPr>
          <p:cNvPr id="16" name="f-4"/>
          <p:cNvSpPr/>
          <p:nvPr/>
        </p:nvSpPr>
        <p:spPr>
          <a:xfrm>
            <a:off x="6263640" y="1874520"/>
            <a:ext cx="640080" cy="777240"/>
          </a:xfrm>
          <a:prstGeom prst="line">
            <a:avLst/>
          </a:prstGeom>
          <a:noFill/>
          <a:ln w="19050">
            <a:solidFill>
              <a:srgbClr val="5E4A63"/>
            </a:solidFill>
            <a:prstDash val="solid"/>
            <a:tailEnd type="triangle"/>
          </a:ln>
        </p:spPr>
      </p:sp>
      <p:sp>
        <p:nvSpPr>
          <p:cNvPr id="17" name="f-5"/>
          <p:cNvSpPr/>
          <p:nvPr/>
        </p:nvSpPr>
        <p:spPr>
          <a:xfrm flipV="1">
            <a:off x="6263640" y="3017520"/>
            <a:ext cx="640080" cy="777240"/>
          </a:xfrm>
          <a:prstGeom prst="line">
            <a:avLst/>
          </a:prstGeom>
          <a:noFill/>
          <a:ln w="19050">
            <a:solidFill>
              <a:srgbClr val="5E4A63"/>
            </a:solidFill>
            <a:prstDash val="solid"/>
            <a:tailEnd type="triangle"/>
          </a:ln>
        </p:spPr>
      </p:sp>
      <p:sp>
        <p:nvSpPr>
          <p:cNvPr id="18" name="Text 16"/>
          <p:cNvSpPr txBox="1"/>
          <p:nvPr/>
        </p:nvSpPr>
        <p:spPr>
          <a:xfrm>
            <a:off x="8915400" y="1417320"/>
            <a:ext cx="2743200" cy="3017520"/>
          </a:xfrm>
          <a:prstGeom prst="rect">
            <a:avLst/>
          </a:prstGeom>
          <a:noFill/>
          <a:ln/>
        </p:spPr>
        <p:txBody>
          <a:bodyPr wrap="square" lIns="0" tIns="0" rIns="0" bIns="0" rtlCol="0" anchor="t"/>
          <a:lstStyle/>
          <a:p>
            <a:pPr indent="0" marL="0">
              <a:buNone/>
            </a:pPr>
            <a:r>
              <a:rPr lang="en-US" sz="1400" dirty="0">
                <a:solidFill>
                  <a:schemeClr val="tx1"/>
                </a:solidFill>
              </a:rPr>
              <a:t>(a) groupe observé ⇒ type parmi ses enfants</a:t>
            </a:r>
            <a:endParaRPr lang="en-US" sz="1400" dirty="0"/>
          </a:p>
          <a:p>
            <a:pPr indent="0" marL="0">
              <a:buNone/>
            </a:pPr>
            <a:r>
              <a:rPr lang="en-US" sz="1400" dirty="0">
                <a:solidFill>
                  <a:schemeClr val="tx2"/>
                </a:solidFill>
              </a:rPr>
              <a:t>    −log Σ p_k sur k ∈ G(g)</a:t>
            </a:r>
            <a:endParaRPr lang="en-US" sz="1400" dirty="0"/>
          </a:p>
          <a:p>
            <a:pPr indent="0" marL="0">
              <a:buNone/>
            </a:pPr>
            <a:r>
              <a:rPr lang="en-US" sz="1400" dirty="0">
                <a:solidFill>
                  <a:schemeClr val="tx1"/>
                </a:solidFill>
              </a:rPr>
              <a:t>(b) cohérence des têtes (semantic loss)</a:t>
            </a:r>
            <a:endParaRPr lang="en-US" sz="1400" dirty="0"/>
          </a:p>
          <a:p>
            <a:pPr indent="0" marL="0">
              <a:buNone/>
            </a:pPr>
            <a:r>
              <a:rPr lang="en-US" sz="1400" dirty="0">
                <a:solidFill>
                  <a:schemeClr val="tx2"/>
                </a:solidFill>
              </a:rPr>
              <a:t>    −log Σ p_k · q_g(k)</a:t>
            </a:r>
            <a:endParaRPr lang="en-US" sz="1400" dirty="0"/>
          </a:p>
          <a:p>
            <a:pPr indent="0" marL="0">
              <a:buNone/>
            </a:pPr>
            <a:r>
              <a:rPr lang="en-US" sz="1400" dirty="0">
                <a:solidFill>
                  <a:schemeClr val="tx1"/>
                </a:solidFill>
              </a:rPr>
              <a:t>(c) sortie : argmax p_k · q_g(k)</a:t>
            </a:r>
            <a:endParaRPr lang="en-US" sz="1400" dirty="0"/>
          </a:p>
        </p:txBody>
      </p:sp>
      <p:graphicFrame>
        <p:nvGraphicFramePr>
          <p:cNvPr id="6" name="tableau-modeles"/>
          <p:cNvGraphicFramePr>
            <a:graphicFrameLocks noGrp="1"/>
          </p:cNvGraphicFramePr>
          <p:nvPr>
            <p:extLst>
              <p:ext uri="{D42A27DB-BD31-4B8C-83A1-F6EECF244321}">
                <p14:modId xmlns:p14="http://schemas.microsoft.com/office/powerpoint/2010/main" val="1579011935"/>
              </p:ext>
            </p:extLst>
          </p:nvPr>
        </p:nvGraphicFramePr>
        <p:xfrm>
          <a:off x="548640" y="4572000"/>
          <a:ext cx="11064240" cy="914400"/>
        </p:xfrm>
        <a:graphic>
          <a:graphicData uri="http://schemas.openxmlformats.org/drawingml/2006/table">
            <a:tbl>
              <a:tblPr/>
              <a:tblGrid>
                <a:gridCol w="2194560"/>
                <a:gridCol w="1737360"/>
                <a:gridCol w="2743200"/>
                <a:gridCol w="2194560"/>
                <a:gridCol w="2194560"/>
              </a:tblGrid>
              <a:tr h="384048">
                <a:tc>
                  <a:txBody>
                    <a:bodyPr/>
                    <a:lstStyle/>
                    <a:p>
                      <a:pPr indent="0" marL="0">
                        <a:buNone/>
                      </a:pPr>
                      <a:r>
                        <a:rPr lang="en-US" sz="1400" b="1" dirty="0">
                          <a:solidFill>
                            <a:srgbClr val="FFFFFF"/>
                          </a:solidFill>
                        </a:rPr>
                        <a:t>Modèle</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solidFill>
                      <a:srgbClr val="5E4A63"/>
                    </a:solidFill>
                  </a:tcPr>
                </a:tc>
                <a:tc>
                  <a:txBody>
                    <a:bodyPr/>
                    <a:lstStyle/>
                    <a:p>
                      <a:pPr indent="0" marL="0">
                        <a:buNone/>
                      </a:pPr>
                      <a:r>
                        <a:rPr lang="en-US" sz="1400" b="1" dirty="0">
                          <a:solidFill>
                            <a:srgbClr val="FFFFFF"/>
                          </a:solidFill>
                        </a:rPr>
                        <a:t>Tête groupe</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solidFill>
                      <a:srgbClr val="5E4A63"/>
                    </a:solidFill>
                  </a:tcPr>
                </a:tc>
                <a:tc>
                  <a:txBody>
                    <a:bodyPr/>
                    <a:lstStyle/>
                    <a:p>
                      <a:pPr indent="0" marL="0">
                        <a:buNone/>
                      </a:pPr>
                      <a:r>
                        <a:rPr lang="en-US" sz="1400" b="1" dirty="0">
                          <a:solidFill>
                            <a:srgbClr val="FFFFFF"/>
                          </a:solidFill>
                        </a:rPr>
                        <a:t>Pertes logiques (a) (b)</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solidFill>
                      <a:srgbClr val="5E4A63"/>
                    </a:solidFill>
                  </a:tcPr>
                </a:tc>
                <a:tc>
                  <a:txBody>
                    <a:bodyPr/>
                    <a:lstStyle/>
                    <a:p>
                      <a:pPr indent="0" marL="0">
                        <a:buNone/>
                      </a:pPr>
                      <a:r>
                        <a:rPr lang="en-US" sz="1400" b="1" dirty="0">
                          <a:solidFill>
                            <a:srgbClr val="FFFFFF"/>
                          </a:solidFill>
                        </a:rPr>
                        <a:t>Décodage cohérent</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solidFill>
                      <a:srgbClr val="5E4A63"/>
                    </a:solidFill>
                  </a:tcPr>
                </a:tc>
                <a:tc>
                  <a:txBody>
                    <a:bodyPr/>
                    <a:lstStyle/>
                    <a:p>
                      <a:pPr indent="0" marL="0">
                        <a:buNone/>
                      </a:pPr>
                      <a:r>
                        <a:rPr lang="en-US" sz="1400" b="1" dirty="0">
                          <a:solidFill>
                            <a:srgbClr val="FFFFFF"/>
                          </a:solidFill>
                        </a:rPr>
                        <a:t>Images vues à 10 %</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solidFill>
                      <a:srgbClr val="5E4A63"/>
                    </a:solidFill>
                  </a:tcPr>
                </a:tc>
              </a:tr>
              <a:tr h="384048">
                <a:tc>
                  <a:txBody>
                    <a:bodyPr/>
                    <a:lstStyle/>
                    <a:p>
                      <a:pPr indent="0" marL="0">
                        <a:buNone/>
                      </a:pPr>
                      <a:r>
                        <a:rPr lang="en-US" sz="1400" dirty="0">
                          <a:solidFill>
                            <a:srgbClr val="2A1A2E"/>
                          </a:solidFill>
                        </a:rPr>
                        <a:t>R : référence</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indent="0" marL="0">
                        <a:buNone/>
                      </a:pPr>
                      <a:r>
                        <a:rPr lang="en-US" sz="1400" dirty="0">
                          <a:solidFill>
                            <a:srgbClr val="2A1A2E"/>
                          </a:solidFill>
                        </a:rPr>
                        <a:t>non</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indent="0" marL="0">
                        <a:buNone/>
                      </a:pPr>
                      <a:r>
                        <a:rPr lang="en-US" sz="1400" dirty="0">
                          <a:solidFill>
                            <a:srgbClr val="2A1A2E"/>
                          </a:solidFill>
                        </a:rPr>
                        <a:t>non</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indent="0" marL="0">
                        <a:buNone/>
                      </a:pPr>
                      <a:r>
                        <a:rPr lang="en-US" sz="1400" dirty="0">
                          <a:solidFill>
                            <a:srgbClr val="2A1A2E"/>
                          </a:solidFill>
                        </a:rPr>
                        <a:t>–</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indent="0" marL="0">
                        <a:buNone/>
                      </a:pPr>
                      <a:r>
                        <a:rPr lang="en-US" sz="1400" dirty="0">
                          <a:solidFill>
                            <a:srgbClr val="2A1A2E"/>
                          </a:solidFill>
                        </a:rPr>
                        <a:t>701 étiquetées</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r>
              <a:tr h="384048">
                <a:tc>
                  <a:txBody>
                    <a:bodyPr/>
                    <a:lstStyle/>
                    <a:p>
                      <a:pPr indent="0" marL="0">
                        <a:buNone/>
                      </a:pPr>
                      <a:r>
                        <a:rPr lang="en-US" sz="1400" dirty="0">
                          <a:solidFill>
                            <a:srgbClr val="2A1A2E"/>
                          </a:solidFill>
                        </a:rPr>
                        <a:t>M : multi-tâche</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indent="0" marL="0">
                        <a:buNone/>
                      </a:pPr>
                      <a:r>
                        <a:rPr lang="en-US" sz="1400" dirty="0">
                          <a:solidFill>
                            <a:srgbClr val="2A1A2E"/>
                          </a:solidFill>
                        </a:rPr>
                        <a:t>oui</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indent="0" marL="0">
                        <a:buNone/>
                      </a:pPr>
                      <a:r>
                        <a:rPr lang="en-US" sz="1400" dirty="0">
                          <a:solidFill>
                            <a:srgbClr val="2A1A2E"/>
                          </a:solidFill>
                        </a:rPr>
                        <a:t>non</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indent="0" marL="0">
                        <a:buNone/>
                      </a:pPr>
                      <a:r>
                        <a:rPr lang="en-US" sz="1400" dirty="0">
                          <a:solidFill>
                            <a:srgbClr val="2A1A2E"/>
                          </a:solidFill>
                        </a:rPr>
                        <a:t>oui</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indent="0" marL="0">
                        <a:buNone/>
                      </a:pPr>
                      <a:r>
                        <a:rPr lang="en-US" sz="1400" dirty="0">
                          <a:solidFill>
                            <a:srgbClr val="2A1A2E"/>
                          </a:solidFill>
                        </a:rPr>
                        <a:t>toutes</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r>
              <a:tr h="384048">
                <a:tc>
                  <a:txBody>
                    <a:bodyPr/>
                    <a:lstStyle/>
                    <a:p>
                      <a:pPr indent="0" marL="0">
                        <a:buNone/>
                      </a:pPr>
                      <a:r>
                        <a:rPr lang="en-US" sz="1400" b="1" dirty="0">
                          <a:solidFill>
                            <a:srgbClr val="B8235A"/>
                          </a:solidFill>
                        </a:rPr>
                        <a:t>H : hybride</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indent="0" marL="0">
                        <a:buNone/>
                      </a:pPr>
                      <a:r>
                        <a:rPr lang="en-US" sz="1400" dirty="0">
                          <a:solidFill>
                            <a:srgbClr val="2A1A2E"/>
                          </a:solidFill>
                        </a:rPr>
                        <a:t>oui</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indent="0" marL="0">
                        <a:buNone/>
                      </a:pPr>
                      <a:r>
                        <a:rPr lang="en-US" sz="1400" dirty="0">
                          <a:solidFill>
                            <a:srgbClr val="2A1A2E"/>
                          </a:solidFill>
                        </a:rPr>
                        <a:t>oui</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indent="0" marL="0">
                        <a:buNone/>
                      </a:pPr>
                      <a:r>
                        <a:rPr lang="en-US" sz="1400" dirty="0">
                          <a:solidFill>
                            <a:srgbClr val="2A1A2E"/>
                          </a:solidFill>
                        </a:rPr>
                        <a:t>oui</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indent="0" marL="0">
                        <a:buNone/>
                      </a:pPr>
                      <a:r>
                        <a:rPr lang="en-US" sz="1400" dirty="0">
                          <a:solidFill>
                            <a:srgbClr val="2A1A2E"/>
                          </a:solidFill>
                        </a:rPr>
                        <a:t>toutes</a:t>
                      </a:r>
                      <a:endParaRPr lang="en-US" sz="14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Un protocole équitable entre les modèles</a:t>
            </a:r>
            <a:endParaRPr lang="en-US" sz="3000" dirty="0"/>
          </a:p>
        </p:txBody>
      </p:sp>
      <p:sp>
        <p:nvSpPr>
          <p:cNvPr id="3" name="carte-protocole-0"/>
          <p:cNvSpPr/>
          <p:nvPr/>
        </p:nvSpPr>
        <p:spPr>
          <a:xfrm>
            <a:off x="548640" y="1463040"/>
            <a:ext cx="5394960" cy="2057400"/>
          </a:xfrm>
          <a:prstGeom prst="roundRect">
            <a:avLst>
              <a:gd name="adj" fmla="val 5333"/>
            </a:avLst>
          </a:prstGeom>
          <a:solidFill>
            <a:schemeClr val="bg2"/>
          </a:solidFill>
          <a:ln w="12700">
            <a:solidFill>
              <a:schemeClr val="bg2"/>
            </a:solidFill>
            <a:prstDash val="solid"/>
          </a:ln>
        </p:spPr>
      </p:sp>
      <p:sp>
        <p:nvSpPr>
          <p:cNvPr id="4" name="cercle-0"/>
          <p:cNvSpPr/>
          <p:nvPr/>
        </p:nvSpPr>
        <p:spPr>
          <a:xfrm>
            <a:off x="822960" y="1783080"/>
            <a:ext cx="822960" cy="822960"/>
          </a:xfrm>
          <a:prstGeom prst="ellipse">
            <a:avLst/>
          </a:prstGeom>
          <a:solidFill>
            <a:schemeClr val="bg1"/>
          </a:solidFill>
          <a:ln w="12700">
            <a:solidFill>
              <a:schemeClr val="bg1"/>
            </a:solidFill>
            <a:prstDash val="solid"/>
          </a:ln>
        </p:spPr>
      </p:sp>
      <p:pic>
        <p:nvPicPr>
          <p:cNvPr id="5" name="icone-0" descr="Deux régimes">    </p:cNvPr>
          <p:cNvPicPr>
            <a:picLocks noChangeAspect="1"/>
          </p:cNvPicPr>
          <p:nvPr/>
        </p:nvPicPr>
        <p:blipFill>
          <a:blip r:embed="rId1"/>
          <a:stretch>
            <a:fillRect/>
          </a:stretch>
        </p:blipFill>
        <p:spPr>
          <a:xfrm>
            <a:off x="1024128" y="1984248"/>
            <a:ext cx="420624" cy="420624"/>
          </a:xfrm>
          <a:prstGeom prst="rect">
            <a:avLst/>
          </a:prstGeom>
        </p:spPr>
      </p:pic>
      <p:sp>
        <p:nvSpPr>
          <p:cNvPr id="6" name="Text 3"/>
          <p:cNvSpPr txBox="1"/>
          <p:nvPr/>
        </p:nvSpPr>
        <p:spPr>
          <a:xfrm>
            <a:off x="1874520" y="1783080"/>
            <a:ext cx="3840480" cy="457200"/>
          </a:xfrm>
          <a:prstGeom prst="rect">
            <a:avLst/>
          </a:prstGeom>
          <a:noFill/>
          <a:ln/>
        </p:spPr>
        <p:txBody>
          <a:bodyPr wrap="square" lIns="0" tIns="0" rIns="0" bIns="0" rtlCol="0" anchor="t"/>
          <a:lstStyle/>
          <a:p>
            <a:pPr indent="0" marL="0">
              <a:buNone/>
            </a:pPr>
            <a:r>
              <a:rPr lang="en-US" sz="2000" b="1" dirty="0">
                <a:solidFill>
                  <a:schemeClr val="tx1"/>
                </a:solidFill>
              </a:rPr>
              <a:t>Deux régimes</a:t>
            </a:r>
            <a:endParaRPr lang="en-US" sz="2000" dirty="0"/>
          </a:p>
        </p:txBody>
      </p:sp>
      <p:sp>
        <p:nvSpPr>
          <p:cNvPr id="7" name="Text 4"/>
          <p:cNvSpPr txBox="1"/>
          <p:nvPr/>
        </p:nvSpPr>
        <p:spPr>
          <a:xfrm>
            <a:off x="1874520" y="2286000"/>
            <a:ext cx="3840480" cy="1097280"/>
          </a:xfrm>
          <a:prstGeom prst="rect">
            <a:avLst/>
          </a:prstGeom>
          <a:noFill/>
          <a:ln/>
        </p:spPr>
        <p:txBody>
          <a:bodyPr wrap="square" lIns="0" tIns="0" rIns="0" bIns="0" rtlCol="0" anchor="t"/>
          <a:lstStyle/>
          <a:p>
            <a:pPr indent="0" marL="0">
              <a:buNone/>
            </a:pPr>
            <a:r>
              <a:rPr lang="en-US" sz="1500" dirty="0">
                <a:solidFill>
                  <a:schemeClr val="tx2"/>
                </a:solidFill>
              </a:rPr>
              <a:t>100 % des types connus, puis 10 % seulement (le groupe reste connu partout). Courbe de 2 % à 100 %.</a:t>
            </a:r>
            <a:endParaRPr lang="en-US" sz="1500" dirty="0"/>
          </a:p>
        </p:txBody>
      </p:sp>
      <p:sp>
        <p:nvSpPr>
          <p:cNvPr id="8" name="carte-protocole-1"/>
          <p:cNvSpPr/>
          <p:nvPr/>
        </p:nvSpPr>
        <p:spPr>
          <a:xfrm>
            <a:off x="6217920" y="1463040"/>
            <a:ext cx="5394960" cy="2057400"/>
          </a:xfrm>
          <a:prstGeom prst="roundRect">
            <a:avLst>
              <a:gd name="adj" fmla="val 5333"/>
            </a:avLst>
          </a:prstGeom>
          <a:solidFill>
            <a:schemeClr val="bg2"/>
          </a:solidFill>
          <a:ln w="12700">
            <a:solidFill>
              <a:schemeClr val="bg2"/>
            </a:solidFill>
            <a:prstDash val="solid"/>
          </a:ln>
        </p:spPr>
      </p:sp>
      <p:sp>
        <p:nvSpPr>
          <p:cNvPr id="9" name="cercle-1"/>
          <p:cNvSpPr/>
          <p:nvPr/>
        </p:nvSpPr>
        <p:spPr>
          <a:xfrm>
            <a:off x="6492240" y="1783080"/>
            <a:ext cx="822960" cy="822960"/>
          </a:xfrm>
          <a:prstGeom prst="ellipse">
            <a:avLst/>
          </a:prstGeom>
          <a:solidFill>
            <a:schemeClr val="bg1"/>
          </a:solidFill>
          <a:ln w="12700">
            <a:solidFill>
              <a:schemeClr val="bg1"/>
            </a:solidFill>
            <a:prstDash val="solid"/>
          </a:ln>
        </p:spPr>
      </p:sp>
      <p:pic>
        <p:nvPicPr>
          <p:cNvPr id="10" name="icone-1" descr="Trois graines">    </p:cNvPr>
          <p:cNvPicPr>
            <a:picLocks noChangeAspect="1"/>
          </p:cNvPicPr>
          <p:nvPr/>
        </p:nvPicPr>
        <p:blipFill>
          <a:blip r:embed="rId2"/>
          <a:stretch>
            <a:fillRect/>
          </a:stretch>
        </p:blipFill>
        <p:spPr>
          <a:xfrm>
            <a:off x="6693408" y="1984248"/>
            <a:ext cx="420624" cy="420624"/>
          </a:xfrm>
          <a:prstGeom prst="rect">
            <a:avLst/>
          </a:prstGeom>
        </p:spPr>
      </p:pic>
      <p:sp>
        <p:nvSpPr>
          <p:cNvPr id="11" name="Text 7"/>
          <p:cNvSpPr txBox="1"/>
          <p:nvPr/>
        </p:nvSpPr>
        <p:spPr>
          <a:xfrm>
            <a:off x="7543800" y="1783080"/>
            <a:ext cx="3840480" cy="457200"/>
          </a:xfrm>
          <a:prstGeom prst="rect">
            <a:avLst/>
          </a:prstGeom>
          <a:noFill/>
          <a:ln/>
        </p:spPr>
        <p:txBody>
          <a:bodyPr wrap="square" lIns="0" tIns="0" rIns="0" bIns="0" rtlCol="0" anchor="t"/>
          <a:lstStyle/>
          <a:p>
            <a:pPr indent="0" marL="0">
              <a:buNone/>
            </a:pPr>
            <a:r>
              <a:rPr lang="en-US" sz="2000" b="1" dirty="0">
                <a:solidFill>
                  <a:schemeClr val="tx1"/>
                </a:solidFill>
              </a:rPr>
              <a:t>Trois graines</a:t>
            </a:r>
            <a:endParaRPr lang="en-US" sz="2000" dirty="0"/>
          </a:p>
        </p:txBody>
      </p:sp>
      <p:sp>
        <p:nvSpPr>
          <p:cNvPr id="12" name="Text 8"/>
          <p:cNvSpPr txBox="1"/>
          <p:nvPr/>
        </p:nvSpPr>
        <p:spPr>
          <a:xfrm>
            <a:off x="7543800" y="2286000"/>
            <a:ext cx="3840480" cy="1097280"/>
          </a:xfrm>
          <a:prstGeom prst="rect">
            <a:avLst/>
          </a:prstGeom>
          <a:noFill/>
          <a:ln/>
        </p:spPr>
        <p:txBody>
          <a:bodyPr wrap="square" lIns="0" tIns="0" rIns="0" bIns="0" rtlCol="0" anchor="t"/>
          <a:lstStyle/>
          <a:p>
            <a:pPr indent="0" marL="0">
              <a:buNone/>
            </a:pPr>
            <a:r>
              <a:rPr lang="en-US" sz="1500" dirty="0">
                <a:solidFill>
                  <a:schemeClr val="tx2"/>
                </a:solidFill>
              </a:rPr>
              <a:t>Moyenne ± écart-type sur 3 entraînements pour l'expérience principale et les ablations.</a:t>
            </a:r>
            <a:endParaRPr lang="en-US" sz="1500" dirty="0"/>
          </a:p>
        </p:txBody>
      </p:sp>
      <p:sp>
        <p:nvSpPr>
          <p:cNvPr id="13" name="carte-protocole-2"/>
          <p:cNvSpPr/>
          <p:nvPr/>
        </p:nvSpPr>
        <p:spPr>
          <a:xfrm>
            <a:off x="548640" y="3794760"/>
            <a:ext cx="5394960" cy="2057400"/>
          </a:xfrm>
          <a:prstGeom prst="roundRect">
            <a:avLst>
              <a:gd name="adj" fmla="val 5333"/>
            </a:avLst>
          </a:prstGeom>
          <a:solidFill>
            <a:schemeClr val="bg2"/>
          </a:solidFill>
          <a:ln w="12700">
            <a:solidFill>
              <a:schemeClr val="bg2"/>
            </a:solidFill>
            <a:prstDash val="solid"/>
          </a:ln>
        </p:spPr>
      </p:sp>
      <p:sp>
        <p:nvSpPr>
          <p:cNvPr id="14" name="cercle-2"/>
          <p:cNvSpPr/>
          <p:nvPr/>
        </p:nvSpPr>
        <p:spPr>
          <a:xfrm>
            <a:off x="822960" y="4114800"/>
            <a:ext cx="822960" cy="822960"/>
          </a:xfrm>
          <a:prstGeom prst="ellipse">
            <a:avLst/>
          </a:prstGeom>
          <a:solidFill>
            <a:schemeClr val="bg1"/>
          </a:solidFill>
          <a:ln w="12700">
            <a:solidFill>
              <a:schemeClr val="bg1"/>
            </a:solidFill>
            <a:prstDash val="solid"/>
          </a:ln>
        </p:spPr>
      </p:sp>
      <p:pic>
        <p:nvPicPr>
          <p:cNvPr id="15" name="icone-2" descr="Même budget">    </p:cNvPr>
          <p:cNvPicPr>
            <a:picLocks noChangeAspect="1"/>
          </p:cNvPicPr>
          <p:nvPr/>
        </p:nvPicPr>
        <p:blipFill>
          <a:blip r:embed="rId3"/>
          <a:stretch>
            <a:fillRect/>
          </a:stretch>
        </p:blipFill>
        <p:spPr>
          <a:xfrm>
            <a:off x="1024128" y="4315968"/>
            <a:ext cx="420624" cy="420624"/>
          </a:xfrm>
          <a:prstGeom prst="rect">
            <a:avLst/>
          </a:prstGeom>
        </p:spPr>
      </p:pic>
      <p:sp>
        <p:nvSpPr>
          <p:cNvPr id="16" name="Text 11"/>
          <p:cNvSpPr txBox="1"/>
          <p:nvPr/>
        </p:nvSpPr>
        <p:spPr>
          <a:xfrm>
            <a:off x="1874520" y="4114800"/>
            <a:ext cx="3840480" cy="457200"/>
          </a:xfrm>
          <a:prstGeom prst="rect">
            <a:avLst/>
          </a:prstGeom>
          <a:noFill/>
          <a:ln/>
        </p:spPr>
        <p:txBody>
          <a:bodyPr wrap="square" lIns="0" tIns="0" rIns="0" bIns="0" rtlCol="0" anchor="t"/>
          <a:lstStyle/>
          <a:p>
            <a:pPr indent="0" marL="0">
              <a:buNone/>
            </a:pPr>
            <a:r>
              <a:rPr lang="en-US" sz="2000" b="1" dirty="0">
                <a:solidFill>
                  <a:schemeClr val="tx1"/>
                </a:solidFill>
              </a:rPr>
              <a:t>Même budget</a:t>
            </a:r>
            <a:endParaRPr lang="en-US" sz="2000" dirty="0"/>
          </a:p>
        </p:txBody>
      </p:sp>
      <p:sp>
        <p:nvSpPr>
          <p:cNvPr id="17" name="Text 12"/>
          <p:cNvSpPr txBox="1"/>
          <p:nvPr/>
        </p:nvSpPr>
        <p:spPr>
          <a:xfrm>
            <a:off x="1874520" y="4617720"/>
            <a:ext cx="3840480" cy="1097280"/>
          </a:xfrm>
          <a:prstGeom prst="rect">
            <a:avLst/>
          </a:prstGeom>
          <a:noFill/>
          <a:ln/>
        </p:spPr>
        <p:txBody>
          <a:bodyPr wrap="square" lIns="0" tIns="0" rIns="0" bIns="0" rtlCol="0" anchor="t"/>
          <a:lstStyle/>
          <a:p>
            <a:pPr indent="0" marL="0">
              <a:buNone/>
            </a:pPr>
            <a:r>
              <a:rPr lang="en-US" sz="1500" dirty="0">
                <a:solidFill>
                  <a:schemeClr val="tx2"/>
                </a:solidFill>
              </a:rPr>
              <a:t>1 200 pas d'optimisation pour tous ; à 10 %, chaque lot de M et H contient moitié d'images étiquetées.</a:t>
            </a:r>
            <a:endParaRPr lang="en-US" sz="1500" dirty="0"/>
          </a:p>
        </p:txBody>
      </p:sp>
      <p:sp>
        <p:nvSpPr>
          <p:cNvPr id="18" name="carte-protocole-3"/>
          <p:cNvSpPr/>
          <p:nvPr/>
        </p:nvSpPr>
        <p:spPr>
          <a:xfrm>
            <a:off x="6217920" y="3794760"/>
            <a:ext cx="5394960" cy="2057400"/>
          </a:xfrm>
          <a:prstGeom prst="roundRect">
            <a:avLst>
              <a:gd name="adj" fmla="val 5333"/>
            </a:avLst>
          </a:prstGeom>
          <a:solidFill>
            <a:schemeClr val="bg2"/>
          </a:solidFill>
          <a:ln w="12700">
            <a:solidFill>
              <a:schemeClr val="bg2"/>
            </a:solidFill>
            <a:prstDash val="solid"/>
          </a:ln>
        </p:spPr>
      </p:sp>
      <p:sp>
        <p:nvSpPr>
          <p:cNvPr id="19" name="cercle-3"/>
          <p:cNvSpPr/>
          <p:nvPr/>
        </p:nvSpPr>
        <p:spPr>
          <a:xfrm>
            <a:off x="6492240" y="4114800"/>
            <a:ext cx="822960" cy="822960"/>
          </a:xfrm>
          <a:prstGeom prst="ellipse">
            <a:avLst/>
          </a:prstGeom>
          <a:solidFill>
            <a:schemeClr val="bg1"/>
          </a:solidFill>
          <a:ln w="12700">
            <a:solidFill>
              <a:schemeClr val="bg1"/>
            </a:solidFill>
            <a:prstDash val="solid"/>
          </a:ln>
        </p:spPr>
      </p:sp>
      <p:pic>
        <p:nvPicPr>
          <p:cNvPr id="20" name="icone-3" descr="Pas de fuite">    </p:cNvPr>
          <p:cNvPicPr>
            <a:picLocks noChangeAspect="1"/>
          </p:cNvPicPr>
          <p:nvPr/>
        </p:nvPicPr>
        <p:blipFill>
          <a:blip r:embed="rId4"/>
          <a:stretch>
            <a:fillRect/>
          </a:stretch>
        </p:blipFill>
        <p:spPr>
          <a:xfrm>
            <a:off x="6693408" y="4315968"/>
            <a:ext cx="420624" cy="420624"/>
          </a:xfrm>
          <a:prstGeom prst="rect">
            <a:avLst/>
          </a:prstGeom>
        </p:spPr>
      </p:pic>
      <p:sp>
        <p:nvSpPr>
          <p:cNvPr id="21" name="Text 15"/>
          <p:cNvSpPr txBox="1"/>
          <p:nvPr/>
        </p:nvSpPr>
        <p:spPr>
          <a:xfrm>
            <a:off x="7543800" y="4114800"/>
            <a:ext cx="3840480" cy="457200"/>
          </a:xfrm>
          <a:prstGeom prst="rect">
            <a:avLst/>
          </a:prstGeom>
          <a:noFill/>
          <a:ln/>
        </p:spPr>
        <p:txBody>
          <a:bodyPr wrap="square" lIns="0" tIns="0" rIns="0" bIns="0" rtlCol="0" anchor="t"/>
          <a:lstStyle/>
          <a:p>
            <a:pPr indent="0" marL="0">
              <a:buNone/>
            </a:pPr>
            <a:r>
              <a:rPr lang="en-US" sz="2000" b="1" dirty="0">
                <a:solidFill>
                  <a:schemeClr val="tx1"/>
                </a:solidFill>
              </a:rPr>
              <a:t>Pas de fuite</a:t>
            </a:r>
            <a:endParaRPr lang="en-US" sz="2000" dirty="0"/>
          </a:p>
        </p:txBody>
      </p:sp>
      <p:sp>
        <p:nvSpPr>
          <p:cNvPr id="22" name="Text 16"/>
          <p:cNvSpPr txBox="1"/>
          <p:nvPr/>
        </p:nvSpPr>
        <p:spPr>
          <a:xfrm>
            <a:off x="7543800" y="4617720"/>
            <a:ext cx="3840480" cy="1097280"/>
          </a:xfrm>
          <a:prstGeom prst="rect">
            <a:avLst/>
          </a:prstGeom>
          <a:noFill/>
          <a:ln/>
        </p:spPr>
        <p:txBody>
          <a:bodyPr wrap="square" lIns="0" tIns="0" rIns="0" bIns="0" rtlCol="0" anchor="t"/>
          <a:lstStyle/>
          <a:p>
            <a:pPr indent="0" marL="0">
              <a:buNone/>
            </a:pPr>
            <a:r>
              <a:rPr lang="en-US" sz="1500" dirty="0">
                <a:solidFill>
                  <a:schemeClr val="tx2"/>
                </a:solidFill>
              </a:rPr>
              <a:t>Aucune sélection sur le test ; la validation sert seulement à la calibration et à la prédiction conforme.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Peu d'étiquettes : l'hybride garde une AUC malin de 0,86</a:t>
            </a:r>
            <a:endParaRPr lang="en-US" sz="3000" dirty="0"/>
          </a:p>
        </p:txBody>
      </p:sp>
      <p:graphicFrame>
        <p:nvGraphicFramePr>
          <p:cNvPr id="3" name="graphique-auc" descr=""/>
          <p:cNvGraphicFramePr/>
          <p:nvPr/>
        </p:nvGraphicFramePr>
        <p:xfrm>
          <a:off x="548640" y="1234440"/>
          <a:ext cx="7315200" cy="4937760"/>
        </p:xfrm>
        <a:graphic xmlns:a="http://schemas.openxmlformats.org/drawingml/2006/main">
          <a:graphicData uri="http://schemas.openxmlformats.org/drawingml/2006/chart">
            <c:chart xmlns:c="http://schemas.openxmlformats.org/drawingml/2006/chart" r:id="rId1"/>
          </a:graphicData>
        </a:graphic>
      </p:graphicFrame>
      <p:sp>
        <p:nvSpPr>
          <p:cNvPr id="4" name="stat-auc-valeur"/>
          <p:cNvSpPr txBox="1"/>
          <p:nvPr/>
        </p:nvSpPr>
        <p:spPr>
          <a:xfrm>
            <a:off x="8229600" y="1371600"/>
            <a:ext cx="34747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+0,081</a:t>
            </a:r>
            <a:endParaRPr lang="en-US" sz="4800" dirty="0"/>
          </a:p>
        </p:txBody>
      </p:sp>
      <p:sp>
        <p:nvSpPr>
          <p:cNvPr id="5" name="stat-auc-label"/>
          <p:cNvSpPr txBox="1"/>
          <p:nvPr/>
        </p:nvSpPr>
        <p:spPr>
          <a:xfrm>
            <a:off x="8229600" y="2240280"/>
            <a:ext cx="3474720" cy="731520"/>
          </a:xfrm>
          <a:prstGeom prst="rect">
            <a:avLst/>
          </a:prstGeom>
          <a:noFill/>
          <a:ln/>
        </p:spPr>
        <p:txBody>
          <a:bodyPr wrap="square" lIns="0" tIns="0" rIns="0" bIns="0" rtlCol="0" anchor="t"/>
          <a:lstStyle/>
          <a:p>
            <a:pPr indent="0" marL="0">
              <a:buNone/>
            </a:pPr>
            <a:r>
              <a:rPr lang="en-US" sz="1400" dirty="0">
                <a:solidFill>
                  <a:schemeClr val="tx2"/>
                </a:solidFill>
              </a:rPr>
              <a:t>d'AUC bénin / malin à 2 % d'étiquettes (0,857 contre 0,776)</a:t>
            </a:r>
            <a:endParaRPr lang="en-US" sz="1400" dirty="0"/>
          </a:p>
        </p:txBody>
      </p:sp>
      <p:sp>
        <p:nvSpPr>
          <p:cNvPr id="6" name="carte-type-exact"/>
          <p:cNvSpPr/>
          <p:nvPr/>
        </p:nvSpPr>
        <p:spPr>
          <a:xfrm>
            <a:off x="8229600" y="3291840"/>
            <a:ext cx="3474720" cy="1737360"/>
          </a:xfrm>
          <a:prstGeom prst="roundRect">
            <a:avLst>
              <a:gd name="adj" fmla="val 6316"/>
            </a:avLst>
          </a:prstGeom>
          <a:solidFill>
            <a:schemeClr val="bg2"/>
          </a:solidFill>
          <a:ln w="12700">
            <a:solidFill>
              <a:schemeClr val="bg2"/>
            </a:solidFill>
            <a:prstDash val="solid"/>
          </a:ln>
        </p:spPr>
      </p:sp>
      <p:sp>
        <p:nvSpPr>
          <p:cNvPr id="7" name="Text 4"/>
          <p:cNvSpPr txBox="1"/>
          <p:nvPr/>
        </p:nvSpPr>
        <p:spPr>
          <a:xfrm>
            <a:off x="8458200" y="3474720"/>
            <a:ext cx="3108960" cy="1463040"/>
          </a:xfrm>
          <a:prstGeom prst="rect">
            <a:avLst/>
          </a:prstGeom>
          <a:noFill/>
          <a:ln/>
        </p:spPr>
        <p:txBody>
          <a:bodyPr wrap="square" lIns="0" tIns="0" rIns="0" bIns="0" rtlCol="0" anchor="t"/>
          <a:lstStyle/>
          <a:p>
            <a:pPr indent="0" marL="0">
              <a:buNone/>
            </a:pPr>
            <a:r>
              <a:rPr lang="en-US" sz="1600" b="1" dirty="0">
                <a:solidFill>
                  <a:schemeClr val="tx1"/>
                </a:solidFill>
              </a:rPr>
              <a:t>Mais pas sur le type exact</a:t>
            </a:r>
            <a:endParaRPr lang="en-US" sz="1600" dirty="0"/>
          </a:p>
          <a:p>
            <a:pPr indent="0" marL="0">
              <a:buNone/>
            </a:pPr>
            <a:r>
              <a:rPr lang="en-US" sz="1400" dirty="0">
                <a:solidFill>
                  <a:schemeClr val="tx2"/>
                </a:solidFill>
              </a:rPr>
              <a:t>Précision équilibrée à 10 % : R 0,390, M 0,385, H 0,368. À 100 %, R est meilleur partout.</a:t>
            </a:r>
            <a:endParaRPr lang="en-US" sz="1600" dirty="0"/>
          </a:p>
        </p:txBody>
      </p:sp>
      <p:sp>
        <p:nvSpPr>
          <p:cNvPr id="8" name="Text 5"/>
          <p:cNvSpPr txBox="1"/>
          <p:nvPr/>
        </p:nvSpPr>
        <p:spPr>
          <a:xfrm>
            <a:off x="548640" y="6126480"/>
            <a:ext cx="7315200" cy="274320"/>
          </a:xfrm>
          <a:prstGeom prst="rect">
            <a:avLst/>
          </a:prstGeom>
          <a:noFill/>
          <a:ln/>
        </p:spPr>
        <p:txBody>
          <a:bodyPr wrap="square" lIns="0" tIns="0" rIns="0" bIns="0" rtlCol="0" anchor="t"/>
          <a:lstStyle/>
          <a:p>
            <a:pPr indent="0" marL="0">
              <a:buNone/>
            </a:pPr>
            <a:r>
              <a:rPr lang="en-US" sz="1000" i="1" dirty="0">
                <a:solidFill>
                  <a:schemeClr val="tx2"/>
                </a:solidFill>
              </a:rPr>
              <a:t>10 % et 100 % : moyenne de 3 graines ; 2 %, 5 % et 25 % : une graine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Le gain vient de l'étiquette de groupe, pas de la logique</a:t>
            </a:r>
            <a:endParaRPr lang="en-US" sz="3000" dirty="0"/>
          </a:p>
        </p:txBody>
      </p:sp>
      <p:graphicFrame>
        <p:nvGraphicFramePr>
          <p:cNvPr id="9" name="tableau-ablations"/>
          <p:cNvGraphicFramePr>
            <a:graphicFrameLocks noGrp="1"/>
          </p:cNvGraphicFramePr>
          <p:nvPr>
            <p:extLst>
              <p:ext uri="{D42A27DB-BD31-4B8C-83A1-F6EECF244321}">
                <p14:modId xmlns:p14="http://schemas.microsoft.com/office/powerpoint/2010/main" val="1579011935"/>
              </p:ext>
            </p:extLst>
          </p:nvPr>
        </p:nvGraphicFramePr>
        <p:xfrm>
          <a:off x="548640" y="1371600"/>
          <a:ext cx="7223760" cy="914400"/>
        </p:xfrm>
        <a:graphic>
          <a:graphicData uri="http://schemas.openxmlformats.org/drawingml/2006/table">
            <a:tbl>
              <a:tblPr/>
              <a:tblGrid>
                <a:gridCol w="3108960"/>
                <a:gridCol w="1371600"/>
                <a:gridCol w="1371600"/>
                <a:gridCol w="1371600"/>
              </a:tblGrid>
              <a:tr h="502920">
                <a:tc>
                  <a:txBody>
                    <a:bodyPr/>
                    <a:lstStyle/>
                    <a:p>
                      <a:pPr algn="l" indent="0" marL="0">
                        <a:buNone/>
                      </a:pPr>
                      <a:r>
                        <a:rPr lang="en-US" sz="1500" b="1" dirty="0">
                          <a:solidFill>
                            <a:srgbClr val="FFFFFF"/>
                          </a:solidFill>
                        </a:rPr>
                        <a:t>Régime 10 %, 3 graines</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solidFill>
                      <a:srgbClr val="5E4A63"/>
                    </a:solidFill>
                  </a:tcPr>
                </a:tc>
                <a:tc>
                  <a:txBody>
                    <a:bodyPr/>
                    <a:lstStyle/>
                    <a:p>
                      <a:pPr algn="l" indent="0" marL="0">
                        <a:buNone/>
                      </a:pPr>
                      <a:r>
                        <a:rPr lang="en-US" sz="1500" b="1" dirty="0">
                          <a:solidFill>
                            <a:srgbClr val="FFFFFF"/>
                          </a:solidFill>
                        </a:rPr>
                        <a:t>Préc. équilibrée</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solidFill>
                      <a:srgbClr val="5E4A63"/>
                    </a:solidFill>
                  </a:tcPr>
                </a:tc>
                <a:tc>
                  <a:txBody>
                    <a:bodyPr/>
                    <a:lstStyle/>
                    <a:p>
                      <a:pPr algn="l" indent="0" marL="0">
                        <a:buNone/>
                      </a:pPr>
                      <a:r>
                        <a:rPr lang="en-US" sz="1500" b="1" dirty="0">
                          <a:solidFill>
                            <a:srgbClr val="FFFFFF"/>
                          </a:solidFill>
                        </a:rPr>
                        <a:t>Rappel malin</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solidFill>
                      <a:srgbClr val="5E4A63"/>
                    </a:solidFill>
                  </a:tcPr>
                </a:tc>
                <a:tc>
                  <a:txBody>
                    <a:bodyPr/>
                    <a:lstStyle/>
                    <a:p>
                      <a:pPr algn="l" indent="0" marL="0">
                        <a:buNone/>
                      </a:pPr>
                      <a:r>
                        <a:rPr lang="en-US" sz="1500" b="1" dirty="0">
                          <a:solidFill>
                            <a:srgbClr val="FFFFFF"/>
                          </a:solidFill>
                        </a:rPr>
                        <a:t>AUC malin</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solidFill>
                      <a:srgbClr val="5E4A63"/>
                    </a:solidFill>
                  </a:tcPr>
                </a:tc>
              </a:tr>
              <a:tr h="502920">
                <a:tc>
                  <a:txBody>
                    <a:bodyPr/>
                    <a:lstStyle/>
                    <a:p>
                      <a:pPr algn="l" indent="0" marL="0">
                        <a:buNone/>
                      </a:pPr>
                      <a:r>
                        <a:rPr lang="en-US" sz="1500" b="1" dirty="0">
                          <a:solidFill>
                            <a:srgbClr val="2A1A2E"/>
                          </a:solidFill>
                        </a:rPr>
                        <a:t>H complet</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0,368</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0,485</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0,862</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r>
              <a:tr h="502920">
                <a:tc>
                  <a:txBody>
                    <a:bodyPr/>
                    <a:lstStyle/>
                    <a:p>
                      <a:pPr algn="l" indent="0" marL="0">
                        <a:buNone/>
                      </a:pPr>
                      <a:r>
                        <a:rPr lang="en-US" sz="1500" dirty="0">
                          <a:solidFill>
                            <a:srgbClr val="2A1A2E"/>
                          </a:solidFill>
                        </a:rPr>
                        <a:t>H sans règle (a) groupe ⇒ type</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0,377</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0,470</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0,856</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r>
              <a:tr h="502920">
                <a:tc>
                  <a:txBody>
                    <a:bodyPr/>
                    <a:lstStyle/>
                    <a:p>
                      <a:pPr algn="l" indent="0" marL="0">
                        <a:buNone/>
                      </a:pPr>
                      <a:r>
                        <a:rPr lang="en-US" sz="1500" dirty="0">
                          <a:solidFill>
                            <a:srgbClr val="2A1A2E"/>
                          </a:solidFill>
                        </a:rPr>
                        <a:t>H sans cohérence (b)</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0,383</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b="1" dirty="0">
                          <a:solidFill>
                            <a:srgbClr val="B8235A"/>
                          </a:solidFill>
                        </a:rPr>
                        <a:t>0,507</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0,864</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r>
              <a:tr h="502920">
                <a:tc>
                  <a:txBody>
                    <a:bodyPr/>
                    <a:lstStyle/>
                    <a:p>
                      <a:pPr algn="l" indent="0" marL="0">
                        <a:buNone/>
                      </a:pPr>
                      <a:r>
                        <a:rPr lang="en-US" sz="1500" dirty="0">
                          <a:solidFill>
                            <a:srgbClr val="2A1A2E"/>
                          </a:solidFill>
                        </a:rPr>
                        <a:t>H avec Łukasiewicz</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0,378</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0,504</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0,864</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r>
              <a:tr h="502920">
                <a:tc>
                  <a:txBody>
                    <a:bodyPr/>
                    <a:lstStyle/>
                    <a:p>
                      <a:pPr algn="l" indent="0" marL="0">
                        <a:buNone/>
                      </a:pPr>
                      <a:r>
                        <a:rPr lang="en-US" sz="1500" dirty="0">
                          <a:solidFill>
                            <a:srgbClr val="2A1A2E"/>
                          </a:solidFill>
                        </a:rPr>
                        <a:t>M : multi-tâche, aucune règle</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0,389</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0,485</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b="1" dirty="0">
                          <a:solidFill>
                            <a:srgbClr val="B8235A"/>
                          </a:solidFill>
                        </a:rPr>
                        <a:t>0,865</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r>
              <a:tr h="502920">
                <a:tc>
                  <a:txBody>
                    <a:bodyPr/>
                    <a:lstStyle/>
                    <a:p>
                      <a:pPr algn="l" indent="0" marL="0">
                        <a:buNone/>
                      </a:pPr>
                      <a:r>
                        <a:rPr lang="en-US" sz="1500" dirty="0">
                          <a:solidFill>
                            <a:srgbClr val="2A1A2E"/>
                          </a:solidFill>
                        </a:rPr>
                        <a:t>R : référence</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b="1" dirty="0">
                          <a:solidFill>
                            <a:srgbClr val="B8235A"/>
                          </a:solidFill>
                        </a:rPr>
                        <a:t>0,390</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0,486</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c>
                  <a:txBody>
                    <a:bodyPr/>
                    <a:lstStyle/>
                    <a:p>
                      <a:pPr algn="l" indent="0" marL="0">
                        <a:buNone/>
                      </a:pPr>
                      <a:r>
                        <a:rPr lang="en-US" sz="1500" dirty="0">
                          <a:solidFill>
                            <a:srgbClr val="2A1A2E"/>
                          </a:solidFill>
                        </a:rPr>
                        <a:t>0,818</a:t>
                      </a:r>
                      <a:endParaRPr lang="en-US" sz="1500" dirty="0"/>
                    </a:p>
                  </a:txBody>
                  <a:tcPr marL="91440" marR="91440" marT="45720" marB="45720">
                    <a:lnL w="6350" cap="flat" cmpd="sng" algn="ctr">
                      <a:solidFill>
                        <a:srgbClr val="E4DEE6"/>
                      </a:solidFill>
                      <a:prstDash val="solid"/>
                      <a:round/>
                      <a:headEnd type="none" w="med" len="med"/>
                      <a:tailEnd type="none" w="med" len="med"/>
                    </a:lnL>
                    <a:lnR w="6350" cap="flat" cmpd="sng" algn="ctr">
                      <a:solidFill>
                        <a:srgbClr val="E4DEE6"/>
                      </a:solidFill>
                      <a:prstDash val="solid"/>
                      <a:round/>
                      <a:headEnd type="none" w="med" len="med"/>
                      <a:tailEnd type="none" w="med" len="med"/>
                    </a:lnR>
                    <a:lnT w="6350" cap="flat" cmpd="sng" algn="ctr">
                      <a:solidFill>
                        <a:srgbClr val="E4DEE6"/>
                      </a:solidFill>
                      <a:prstDash val="solid"/>
                      <a:round/>
                      <a:headEnd type="none" w="med" len="med"/>
                      <a:tailEnd type="none" w="med" len="med"/>
                    </a:lnT>
                    <a:lnB w="6350" cap="flat" cmpd="sng" algn="ctr">
                      <a:solidFill>
                        <a:srgbClr val="E4DEE6"/>
                      </a:solidFill>
                      <a:prstDash val="solid"/>
                      <a:round/>
                      <a:headEnd type="none" w="med" len="med"/>
                      <a:tailEnd type="none" w="med" len="med"/>
                    </a:lnB>
                  </a:tcPr>
                </a:tc>
              </a:tr>
            </a:tbl>
          </a:graphicData>
        </a:graphic>
      </p:graphicFrame>
      <p:sp>
        <p:nvSpPr>
          <p:cNvPr id="4" name="Text 1"/>
          <p:cNvSpPr txBox="1"/>
          <p:nvPr/>
        </p:nvSpPr>
        <p:spPr>
          <a:xfrm>
            <a:off x="548640" y="5120640"/>
            <a:ext cx="7223760" cy="365760"/>
          </a:xfrm>
          <a:prstGeom prst="rect">
            <a:avLst/>
          </a:prstGeom>
          <a:noFill/>
          <a:ln/>
        </p:spPr>
        <p:txBody>
          <a:bodyPr wrap="square" lIns="0" tIns="0" rIns="0" bIns="0" rtlCol="0" anchor="t"/>
          <a:lstStyle/>
          <a:p>
            <a:pPr indent="0" marL="0">
              <a:buNone/>
            </a:pPr>
            <a:r>
              <a:rPr lang="en-US" sz="1200" i="1" dirty="0">
                <a:solidFill>
                  <a:schemeClr val="tx2"/>
                </a:solidFill>
              </a:rPr>
              <a:t>Écarts de 1 à 2 points : du même ordre que les écarts-types (≈ 0,01)</a:t>
            </a:r>
            <a:endParaRPr lang="en-US" sz="1200" dirty="0"/>
          </a:p>
        </p:txBody>
      </p:sp>
      <p:sp>
        <p:nvSpPr>
          <p:cNvPr id="5" name="carte-pourquoi"/>
          <p:cNvSpPr/>
          <p:nvPr/>
        </p:nvSpPr>
        <p:spPr>
          <a:xfrm>
            <a:off x="8138160" y="1371600"/>
            <a:ext cx="3520440" cy="4023360"/>
          </a:xfrm>
          <a:prstGeom prst="roundRect">
            <a:avLst>
              <a:gd name="adj" fmla="val 3117"/>
            </a:avLst>
          </a:prstGeom>
          <a:solidFill>
            <a:schemeClr val="bg2"/>
          </a:solidFill>
          <a:ln w="12700">
            <a:solidFill>
              <a:schemeClr val="bg2"/>
            </a:solidFill>
            <a:prstDash val="solid"/>
          </a:ln>
        </p:spPr>
      </p:sp>
      <p:sp>
        <p:nvSpPr>
          <p:cNvPr id="6" name="Text 3"/>
          <p:cNvSpPr txBox="1"/>
          <p:nvPr/>
        </p:nvSpPr>
        <p:spPr>
          <a:xfrm>
            <a:off x="8366760" y="1554480"/>
            <a:ext cx="3108960" cy="3749040"/>
          </a:xfrm>
          <a:prstGeom prst="rect">
            <a:avLst/>
          </a:prstGeom>
          <a:noFill/>
          <a:ln/>
        </p:spPr>
        <p:txBody>
          <a:bodyPr wrap="square" lIns="0" tIns="0" rIns="0" bIns="0" rtlCol="0" anchor="t"/>
          <a:lstStyle/>
          <a:p>
            <a:pPr indent="0" marL="0">
              <a:buNone/>
            </a:pPr>
            <a:r>
              <a:rPr lang="en-US" sz="2000" b="1" dirty="0">
                <a:solidFill>
                  <a:schemeClr val="accent1"/>
                </a:solidFill>
              </a:rPr>
              <a:t>Pourquoi ?</a:t>
            </a:r>
            <a:endParaRPr lang="en-US" sz="1500" dirty="0"/>
          </a:p>
          <a:p>
            <a:pPr indent="0" marL="0">
              <a:buNone/>
            </a:pPr>
            <a:r>
              <a:rPr lang="en-US" sz="1500" dirty="0">
                <a:solidFill>
                  <a:schemeClr val="tx1"/>
                </a:solidFill>
              </a:rPr>
              <a:t>« Bénin ⇒ bkl, df, nv ou vasc » ne dit rien à l'intérieur d'un groupe.</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tx1"/>
                </a:solidFill>
              </a:rPr>
              <a:t>Le plus simple pour la satisfaire : tout mettre sur nv. La règle renforce la classe dominante (vasc : 0,15 pour H contre 0,25 pour R).</a:t>
            </a:r>
            <a:endParaRPr lang="en-US" sz="1500" dirty="0"/>
          </a:p>
          <a:p>
            <a:pPr indent="0" marL="0">
              <a:buNone/>
            </a:pPr>
            <a:r>
              <a:rPr lang="en-US" sz="800" dirty="0">
                <a:solidFill>
                  <a:schemeClr val="tx1"/>
                </a:solidFill>
              </a:rPr>
              <a:t> </a:t>
            </a:r>
            <a:endParaRPr lang="en-US" sz="1500" dirty="0"/>
          </a:p>
          <a:p>
            <a:pPr indent="0" marL="0">
              <a:buNone/>
            </a:pPr>
            <a:r>
              <a:rPr lang="en-US" sz="1500" i="1" dirty="0">
                <a:solidFill>
                  <a:schemeClr val="tx1"/>
                </a:solidFill>
              </a:rPr>
              <a:t>Comme la règle du max dans le TP MNIST : une règle peu informative.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98 % des erreurs viennent de la perception</a:t>
            </a:r>
            <a:endParaRPr lang="en-US" sz="3000" dirty="0"/>
          </a:p>
        </p:txBody>
      </p:sp>
      <p:graphicFrame>
        <p:nvGraphicFramePr>
          <p:cNvPr id="3" name="graphique-erreurs" descr=""/>
          <p:cNvGraphicFramePr/>
          <p:nvPr/>
        </p:nvGraphicFramePr>
        <p:xfrm>
          <a:off x="548640" y="1234440"/>
          <a:ext cx="5486400" cy="4846320"/>
        </p:xfrm>
        <a:graphic xmlns:a="http://schemas.openxmlformats.org/drawingml/2006/main">
          <a:graphicData uri="http://schemas.openxmlformats.org/drawingml/2006/chart">
            <c:chart xmlns:c="http://schemas.openxmlformats.org/drawingml/2006/chart" r:id="rId1"/>
          </a:graphicData>
        </a:graphic>
      </p:graphicFrame>
      <p:sp>
        <p:nvSpPr>
          <p:cNvPr id="4" name="carte-cas-0"/>
          <p:cNvSpPr/>
          <p:nvPr/>
        </p:nvSpPr>
        <p:spPr>
          <a:xfrm>
            <a:off x="6400800" y="1371600"/>
            <a:ext cx="5257800" cy="1371600"/>
          </a:xfrm>
          <a:prstGeom prst="roundRect">
            <a:avLst>
              <a:gd name="adj" fmla="val 8000"/>
            </a:avLst>
          </a:prstGeom>
          <a:solidFill>
            <a:schemeClr val="bg2"/>
          </a:solidFill>
          <a:ln w="12700">
            <a:solidFill>
              <a:schemeClr val="bg2"/>
            </a:solidFill>
            <a:prstDash val="solid"/>
          </a:ln>
        </p:spPr>
      </p:sp>
      <p:sp>
        <p:nvSpPr>
          <p:cNvPr id="5" name="Text 2"/>
          <p:cNvSpPr txBox="1"/>
          <p:nvPr/>
        </p:nvSpPr>
        <p:spPr>
          <a:xfrm>
            <a:off x="6629400" y="1554480"/>
            <a:ext cx="2103120" cy="10058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119 / 223</a:t>
            </a:r>
            <a:endParaRPr lang="en-US" sz="2600" dirty="0"/>
          </a:p>
        </p:txBody>
      </p:sp>
      <p:sp>
        <p:nvSpPr>
          <p:cNvPr id="6" name="Text 3"/>
          <p:cNvSpPr txBox="1"/>
          <p:nvPr/>
        </p:nvSpPr>
        <p:spPr>
          <a:xfrm>
            <a:off x="8778240" y="1508760"/>
            <a:ext cx="2743200" cy="1097280"/>
          </a:xfrm>
          <a:prstGeom prst="rect">
            <a:avLst/>
          </a:prstGeom>
          <a:noFill/>
          <a:ln/>
        </p:spPr>
        <p:txBody>
          <a:bodyPr wrap="square" lIns="0" tIns="0" rIns="0" bIns="0" rtlCol="0" anchor="ctr"/>
          <a:lstStyle/>
          <a:p>
            <a:pPr indent="0" marL="0">
              <a:buNone/>
            </a:pPr>
            <a:r>
              <a:rPr lang="en-US" sz="1400" dirty="0">
                <a:solidFill>
                  <a:schemeClr val="tx1"/>
                </a:solidFill>
              </a:rPr>
              <a:t>mélanomes classés nævus : la confusion la plus fréquente et la plus dangereuse</a:t>
            </a:r>
            <a:endParaRPr lang="en-US" sz="1400" dirty="0"/>
          </a:p>
        </p:txBody>
      </p:sp>
      <p:sp>
        <p:nvSpPr>
          <p:cNvPr id="7" name="carte-cas-1"/>
          <p:cNvSpPr/>
          <p:nvPr/>
        </p:nvSpPr>
        <p:spPr>
          <a:xfrm>
            <a:off x="6400800" y="2971800"/>
            <a:ext cx="5257800" cy="1371600"/>
          </a:xfrm>
          <a:prstGeom prst="roundRect">
            <a:avLst>
              <a:gd name="adj" fmla="val 8000"/>
            </a:avLst>
          </a:prstGeom>
          <a:solidFill>
            <a:schemeClr val="bg2"/>
          </a:solidFill>
          <a:ln w="12700">
            <a:solidFill>
              <a:schemeClr val="bg2"/>
            </a:solidFill>
            <a:prstDash val="solid"/>
          </a:ln>
        </p:spPr>
      </p:sp>
      <p:sp>
        <p:nvSpPr>
          <p:cNvPr id="8" name="Text 5"/>
          <p:cNvSpPr txBox="1"/>
          <p:nvPr/>
        </p:nvSpPr>
        <p:spPr>
          <a:xfrm>
            <a:off x="6629400" y="3154680"/>
            <a:ext cx="2103120" cy="10058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99 %</a:t>
            </a:r>
            <a:endParaRPr lang="en-US" sz="2600" dirty="0"/>
          </a:p>
        </p:txBody>
      </p:sp>
      <p:sp>
        <p:nvSpPr>
          <p:cNvPr id="9" name="Text 6"/>
          <p:cNvSpPr txBox="1"/>
          <p:nvPr/>
        </p:nvSpPr>
        <p:spPr>
          <a:xfrm>
            <a:off x="8778240" y="3108960"/>
            <a:ext cx="2743200" cy="1097280"/>
          </a:xfrm>
          <a:prstGeom prst="rect">
            <a:avLst/>
          </a:prstGeom>
          <a:noFill/>
          <a:ln/>
        </p:spPr>
        <p:txBody>
          <a:bodyPr wrap="square" lIns="0" tIns="0" rIns="0" bIns="0" rtlCol="0" anchor="ctr"/>
          <a:lstStyle/>
          <a:p>
            <a:pPr indent="0" marL="0">
              <a:buNone/>
            </a:pPr>
            <a:r>
              <a:rPr lang="en-US" sz="1400" dirty="0">
                <a:solidFill>
                  <a:schemeClr val="tx1"/>
                </a:solidFill>
              </a:rPr>
              <a:t>de confiance sur des chiffres MNIST, classés « malins » : aucun modèle ne détecte le hors distribution</a:t>
            </a:r>
            <a:endParaRPr lang="en-US" sz="1400" dirty="0"/>
          </a:p>
        </p:txBody>
      </p:sp>
      <p:sp>
        <p:nvSpPr>
          <p:cNvPr id="10" name="carte-cas-2"/>
          <p:cNvSpPr/>
          <p:nvPr/>
        </p:nvSpPr>
        <p:spPr>
          <a:xfrm>
            <a:off x="6400800" y="4572000"/>
            <a:ext cx="5257800" cy="1371600"/>
          </a:xfrm>
          <a:prstGeom prst="roundRect">
            <a:avLst>
              <a:gd name="adj" fmla="val 8000"/>
            </a:avLst>
          </a:prstGeom>
          <a:solidFill>
            <a:schemeClr val="bg2"/>
          </a:solidFill>
          <a:ln w="12700">
            <a:solidFill>
              <a:schemeClr val="bg2"/>
            </a:solidFill>
            <a:prstDash val="solid"/>
          </a:ln>
        </p:spPr>
      </p:sp>
      <p:sp>
        <p:nvSpPr>
          <p:cNvPr id="11" name="Text 8"/>
          <p:cNvSpPr txBox="1"/>
          <p:nvPr/>
        </p:nvSpPr>
        <p:spPr>
          <a:xfrm>
            <a:off x="6629400" y="4754880"/>
            <a:ext cx="2103120" cy="10058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0,66 vs 0,42</a:t>
            </a:r>
            <a:endParaRPr lang="en-US" sz="2600" dirty="0"/>
          </a:p>
        </p:txBody>
      </p:sp>
      <p:sp>
        <p:nvSpPr>
          <p:cNvPr id="12" name="Text 9"/>
          <p:cNvSpPr txBox="1"/>
          <p:nvPr/>
        </p:nvSpPr>
        <p:spPr>
          <a:xfrm>
            <a:off x="8778240" y="4709160"/>
            <a:ext cx="2743200" cy="1097280"/>
          </a:xfrm>
          <a:prstGeom prst="rect">
            <a:avLst/>
          </a:prstGeom>
          <a:noFill/>
          <a:ln/>
        </p:spPr>
        <p:txBody>
          <a:bodyPr wrap="square" lIns="0" tIns="0" rIns="0" bIns="0" rtlCol="0" anchor="ctr"/>
          <a:lstStyle/>
          <a:p>
            <a:pPr indent="0" marL="0">
              <a:buNone/>
            </a:pPr>
            <a:r>
              <a:rPr lang="en-US" sz="1400" dirty="0">
                <a:solidFill>
                  <a:schemeClr val="tx1"/>
                </a:solidFill>
              </a:rPr>
              <a:t>AUC malin sous sous-exposition, H contre R : la tête groupe résiste mieux</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L'incertitude devient une règle d'escalade</a:t>
            </a:r>
            <a:endParaRPr lang="en-US" sz="3000" dirty="0"/>
          </a:p>
        </p:txBody>
      </p:sp>
      <p:sp>
        <p:nvSpPr>
          <p:cNvPr id="3" name="stat-ece-valeur"/>
          <p:cNvSpPr txBox="1"/>
          <p:nvPr/>
        </p:nvSpPr>
        <p:spPr>
          <a:xfrm>
            <a:off x="548640" y="1371600"/>
            <a:ext cx="329184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0,14 → 0,03</a:t>
            </a:r>
            <a:endParaRPr lang="en-US" sz="4800" dirty="0"/>
          </a:p>
        </p:txBody>
      </p:sp>
      <p:sp>
        <p:nvSpPr>
          <p:cNvPr id="4" name="stat-ece-label"/>
          <p:cNvSpPr txBox="1"/>
          <p:nvPr/>
        </p:nvSpPr>
        <p:spPr>
          <a:xfrm>
            <a:off x="548640" y="2240280"/>
            <a:ext cx="3291840" cy="731520"/>
          </a:xfrm>
          <a:prstGeom prst="rect">
            <a:avLst/>
          </a:prstGeom>
          <a:noFill/>
          <a:ln/>
        </p:spPr>
        <p:txBody>
          <a:bodyPr wrap="square" lIns="0" tIns="0" rIns="0" bIns="0" rtlCol="0" anchor="t"/>
          <a:lstStyle/>
          <a:p>
            <a:pPr indent="0" marL="0">
              <a:buNone/>
            </a:pPr>
            <a:r>
              <a:rPr lang="en-US" sz="1400" dirty="0">
                <a:solidFill>
                  <a:schemeClr val="tx2"/>
                </a:solidFill>
              </a:rPr>
              <a:t>ECE de la référence à 10 % après mise à l'échelle par température (0,11 → 0,04 pour H)</a:t>
            </a:r>
            <a:endParaRPr lang="en-US" sz="1400" dirty="0"/>
          </a:p>
        </p:txBody>
      </p:sp>
      <p:sp>
        <p:nvSpPr>
          <p:cNvPr id="5" name="stat-couverture-valeur"/>
          <p:cNvSpPr txBox="1"/>
          <p:nvPr/>
        </p:nvSpPr>
        <p:spPr>
          <a:xfrm>
            <a:off x="548640" y="3291840"/>
            <a:ext cx="3291840" cy="868680"/>
          </a:xfrm>
          <a:prstGeom prst="rect">
            <a:avLst/>
          </a:prstGeom>
          <a:noFill/>
          <a:ln/>
        </p:spPr>
        <p:txBody>
          <a:bodyPr wrap="square" lIns="0" tIns="0" rIns="0" bIns="0" rtlCol="0" anchor="t"/>
          <a:lstStyle/>
          <a:p>
            <a:pPr indent="0" marL="0">
              <a:buNone/>
            </a:pPr>
            <a:r>
              <a:rPr lang="en-US" sz="4800" b="1" dirty="0">
                <a:solidFill>
                  <a:schemeClr val="accent5"/>
                </a:solidFill>
                <a:latin typeface="Cambria" pitchFamily="34" charset="0"/>
                <a:ea typeface="Cambria" pitchFamily="34" charset="-122"/>
                <a:cs typeface="Cambria" pitchFamily="34" charset="-120"/>
              </a:rPr>
              <a:t>0,90</a:t>
            </a:r>
            <a:endParaRPr lang="en-US" sz="4800" dirty="0"/>
          </a:p>
        </p:txBody>
      </p:sp>
      <p:sp>
        <p:nvSpPr>
          <p:cNvPr id="6" name="stat-couverture-label"/>
          <p:cNvSpPr txBox="1"/>
          <p:nvPr/>
        </p:nvSpPr>
        <p:spPr>
          <a:xfrm>
            <a:off x="548640" y="4160520"/>
            <a:ext cx="3291840" cy="731520"/>
          </a:xfrm>
          <a:prstGeom prst="rect">
            <a:avLst/>
          </a:prstGeom>
          <a:noFill/>
          <a:ln/>
        </p:spPr>
        <p:txBody>
          <a:bodyPr wrap="square" lIns="0" tIns="0" rIns="0" bIns="0" rtlCol="0" anchor="t"/>
          <a:lstStyle/>
          <a:p>
            <a:pPr indent="0" marL="0">
              <a:buNone/>
            </a:pPr>
            <a:r>
              <a:rPr lang="en-US" sz="1400" dirty="0">
                <a:solidFill>
                  <a:schemeClr val="tx2"/>
                </a:solidFill>
              </a:rPr>
              <a:t>couverture visée des ensembles conformes ; mesurée entre 0,89 et 0,91 pour tous les modèles</a:t>
            </a:r>
            <a:endParaRPr lang="en-US" sz="1400" dirty="0"/>
          </a:p>
        </p:txBody>
      </p:sp>
      <p:sp>
        <p:nvSpPr>
          <p:cNvPr id="7" name="Text 5"/>
          <p:cNvSpPr txBox="1"/>
          <p:nvPr/>
        </p:nvSpPr>
        <p:spPr>
          <a:xfrm>
            <a:off x="548640" y="5120640"/>
            <a:ext cx="3474720" cy="914400"/>
          </a:xfrm>
          <a:prstGeom prst="rect">
            <a:avLst/>
          </a:prstGeom>
          <a:noFill/>
          <a:ln/>
        </p:spPr>
        <p:txBody>
          <a:bodyPr wrap="square" lIns="0" tIns="0" rIns="0" bIns="0" rtlCol="0" anchor="t"/>
          <a:lstStyle/>
          <a:p>
            <a:pPr indent="0" marL="0">
              <a:buNone/>
            </a:pPr>
            <a:r>
              <a:rPr lang="en-US" sz="1400" i="1" dirty="0">
                <a:solidFill>
                  <a:schemeClr val="tx2"/>
                </a:solidFill>
              </a:rPr>
              <a:t>Règle : escalader vers un dermatologue si l'ensemble contient un type malin et un type bénin.</a:t>
            </a:r>
            <a:endParaRPr lang="en-US" sz="1400" dirty="0"/>
          </a:p>
        </p:txBody>
      </p:sp>
      <p:graphicFrame>
        <p:nvGraphicFramePr>
          <p:cNvPr id="8" name="graphique-escalade" descr=""/>
          <p:cNvGraphicFramePr/>
          <p:nvPr/>
        </p:nvGraphicFramePr>
        <p:xfrm>
          <a:off x="4389120" y="1234440"/>
          <a:ext cx="7269480"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64240" cy="1737360"/>
          </a:xfrm>
          <a:prstGeom prst="rect">
            <a:avLst/>
          </a:prstGeom>
          <a:noFill/>
          <a:ln/>
        </p:spPr>
        <p:txBody>
          <a:bodyPr wrap="square" rtlCol="0" anchor="t"/>
          <a:lstStyle/>
          <a:p>
            <a:pPr algn="l" indent="0" marL="0">
              <a:buNone/>
            </a:pPr>
            <a:r>
              <a:rPr lang="en-US" sz="4000" b="1" dirty="0">
                <a:solidFill>
                  <a:schemeClr val="bg1"/>
                </a:solidFill>
              </a:rPr>
              <a:t>Une règle aide dans la mesure de l'information qu'elle apporte</a:t>
            </a:r>
            <a:endParaRPr lang="en-US" sz="4000" dirty="0"/>
          </a:p>
        </p:txBody>
      </p:sp>
      <p:sp>
        <p:nvSpPr>
          <p:cNvPr id="3" name="Text 1"/>
          <p:cNvSpPr txBox="1"/>
          <p:nvPr/>
        </p:nvSpPr>
        <p:spPr>
          <a:xfrm>
            <a:off x="548640" y="3017520"/>
            <a:ext cx="3474720" cy="411480"/>
          </a:xfrm>
          <a:prstGeom prst="rect">
            <a:avLst/>
          </a:prstGeom>
          <a:noFill/>
          <a:ln/>
        </p:spPr>
        <p:txBody>
          <a:bodyPr wrap="square" lIns="0" tIns="0" rIns="0" bIns="0" rtlCol="0" anchor="t"/>
          <a:lstStyle/>
          <a:p>
            <a:pPr indent="0" marL="0">
              <a:buNone/>
            </a:pPr>
            <a:r>
              <a:rPr lang="en-US" sz="1800" b="1" dirty="0">
                <a:solidFill>
                  <a:schemeClr val="bg1"/>
                </a:solidFill>
              </a:rPr>
              <a:t>Ce qui marche</a:t>
            </a:r>
            <a:endParaRPr lang="en-US" sz="1800" dirty="0"/>
          </a:p>
        </p:txBody>
      </p:sp>
      <p:sp>
        <p:nvSpPr>
          <p:cNvPr id="4" name="Text 2"/>
          <p:cNvSpPr txBox="1"/>
          <p:nvPr/>
        </p:nvSpPr>
        <p:spPr>
          <a:xfrm>
            <a:off x="548640" y="3520440"/>
            <a:ext cx="3474720" cy="1645920"/>
          </a:xfrm>
          <a:prstGeom prst="rect">
            <a:avLst/>
          </a:prstGeom>
          <a:noFill/>
          <a:ln/>
        </p:spPr>
        <p:txBody>
          <a:bodyPr wrap="square" lIns="0" tIns="0" rIns="0" bIns="0" rtlCol="0" anchor="t"/>
          <a:lstStyle/>
          <a:p>
            <a:pPr indent="0" marL="0">
              <a:buNone/>
            </a:pPr>
            <a:r>
              <a:rPr lang="en-US" sz="1600" dirty="0">
                <a:solidFill>
                  <a:schemeClr val="accent6"/>
                </a:solidFill>
              </a:rPr>
              <a:t>Trier bénin / malin avec très peu d'étiquettes fines ; sorties toujours cohérentes ; décisions traçables.</a:t>
            </a:r>
            <a:endParaRPr lang="en-US" sz="1600" dirty="0"/>
          </a:p>
        </p:txBody>
      </p:sp>
      <p:sp>
        <p:nvSpPr>
          <p:cNvPr id="5" name="Text 3"/>
          <p:cNvSpPr txBox="1"/>
          <p:nvPr/>
        </p:nvSpPr>
        <p:spPr>
          <a:xfrm>
            <a:off x="4297680" y="3017520"/>
            <a:ext cx="3474720" cy="411480"/>
          </a:xfrm>
          <a:prstGeom prst="rect">
            <a:avLst/>
          </a:prstGeom>
          <a:noFill/>
          <a:ln/>
        </p:spPr>
        <p:txBody>
          <a:bodyPr wrap="square" lIns="0" tIns="0" rIns="0" bIns="0" rtlCol="0" anchor="t"/>
          <a:lstStyle/>
          <a:p>
            <a:pPr indent="0" marL="0">
              <a:buNone/>
            </a:pPr>
            <a:r>
              <a:rPr lang="en-US" sz="1800" b="1" dirty="0">
                <a:solidFill>
                  <a:schemeClr val="accent6"/>
                </a:solidFill>
              </a:rPr>
              <a:t>Ce qui ne marche pas</a:t>
            </a:r>
            <a:endParaRPr lang="en-US" sz="1800" dirty="0"/>
          </a:p>
        </p:txBody>
      </p:sp>
      <p:sp>
        <p:nvSpPr>
          <p:cNvPr id="6" name="Text 4"/>
          <p:cNvSpPr txBox="1"/>
          <p:nvPr/>
        </p:nvSpPr>
        <p:spPr>
          <a:xfrm>
            <a:off x="4297680" y="3520440"/>
            <a:ext cx="3474720" cy="1645920"/>
          </a:xfrm>
          <a:prstGeom prst="rect">
            <a:avLst/>
          </a:prstGeom>
          <a:noFill/>
          <a:ln/>
        </p:spPr>
        <p:txBody>
          <a:bodyPr wrap="square" lIns="0" tIns="0" rIns="0" bIns="0" rtlCol="0" anchor="t"/>
          <a:lstStyle/>
          <a:p>
            <a:pPr indent="0" marL="0">
              <a:buNone/>
            </a:pPr>
            <a:r>
              <a:rPr lang="en-US" sz="1600" dirty="0">
                <a:solidFill>
                  <a:schemeClr val="accent6"/>
                </a:solidFill>
              </a:rPr>
              <a:t>Le type exact ; les classes rares ; les images hors domaine, classées malignes avec 99 % de confiance.</a:t>
            </a:r>
            <a:endParaRPr lang="en-US" sz="1600" dirty="0"/>
          </a:p>
        </p:txBody>
      </p:sp>
      <p:sp>
        <p:nvSpPr>
          <p:cNvPr id="7" name="Text 5"/>
          <p:cNvSpPr txBox="1"/>
          <p:nvPr/>
        </p:nvSpPr>
        <p:spPr>
          <a:xfrm>
            <a:off x="8046720" y="3017520"/>
            <a:ext cx="3474720" cy="411480"/>
          </a:xfrm>
          <a:prstGeom prst="rect">
            <a:avLst/>
          </a:prstGeom>
          <a:noFill/>
          <a:ln/>
        </p:spPr>
        <p:txBody>
          <a:bodyPr wrap="square" lIns="0" tIns="0" rIns="0" bIns="0" rtlCol="0" anchor="t"/>
          <a:lstStyle/>
          <a:p>
            <a:pPr indent="0" marL="0">
              <a:buNone/>
            </a:pPr>
            <a:r>
              <a:rPr lang="en-US" sz="1800" b="1" dirty="0">
                <a:solidFill>
                  <a:schemeClr val="bg1"/>
                </a:solidFill>
              </a:rPr>
              <a:t>Pistes</a:t>
            </a:r>
            <a:endParaRPr lang="en-US" sz="1800" dirty="0"/>
          </a:p>
        </p:txBody>
      </p:sp>
      <p:sp>
        <p:nvSpPr>
          <p:cNvPr id="8" name="Text 6"/>
          <p:cNvSpPr txBox="1"/>
          <p:nvPr/>
        </p:nvSpPr>
        <p:spPr>
          <a:xfrm>
            <a:off x="8046720" y="3520440"/>
            <a:ext cx="3474720" cy="1645920"/>
          </a:xfrm>
          <a:prstGeom prst="rect">
            <a:avLst/>
          </a:prstGeom>
          <a:noFill/>
          <a:ln/>
        </p:spPr>
        <p:txBody>
          <a:bodyPr wrap="square" lIns="0" tIns="0" rIns="0" bIns="0" rtlCol="0" anchor="t"/>
          <a:lstStyle/>
          <a:p>
            <a:pPr indent="0" marL="0">
              <a:buNone/>
            </a:pPr>
            <a:r>
              <a:rPr lang="en-US" sz="1600" dirty="0">
                <a:solidFill>
                  <a:schemeClr val="accent6"/>
                </a:solidFill>
              </a:rPr>
              <a:t>Critères dermoscopiques (ABCD) comme connaissance plus riche ; contrôle qualité et détecteur hors distribution en entrée.</a:t>
            </a:r>
            <a:endParaRPr lang="en-US" sz="1600" dirty="0"/>
          </a:p>
        </p:txBody>
      </p:sp>
      <p:sp>
        <p:nvSpPr>
          <p:cNvPr id="9" name="Text 7"/>
          <p:cNvSpPr txBox="1"/>
          <p:nvPr/>
        </p:nvSpPr>
        <p:spPr>
          <a:xfrm>
            <a:off x="548640" y="6035040"/>
            <a:ext cx="5486400" cy="457200"/>
          </a:xfrm>
          <a:prstGeom prst="rect">
            <a:avLst/>
          </a:prstGeom>
          <a:noFill/>
          <a:ln/>
        </p:spPr>
        <p:txBody>
          <a:bodyPr wrap="square" lIns="0" tIns="0" rIns="0" bIns="0" rtlCol="0" anchor="t"/>
          <a:lstStyle/>
          <a:p>
            <a:pPr indent="0" marL="0">
              <a:buNone/>
            </a:pPr>
            <a:r>
              <a:rPr lang="en-US" sz="1800" i="1" dirty="0">
                <a:solidFill>
                  <a:schemeClr val="bg1"/>
                </a:solidFill>
              </a:rPr>
              <a:t>Merci — questions ?</a:t>
            </a:r>
            <a:endParaRPr lang="en-US" sz="1800" dirty="0"/>
          </a:p>
        </p:txBody>
      </p:sp>
    </p:spTree>
  </p:cSld>
  <p:clrMapOvr>
    <a:masterClrMapping/>
  </p:clrMapOvr>
</p:sld>
</file>

<file path=ppt/theme/theme1.xml><?xml version="1.0" encoding="utf-8"?>
<a:theme xmlns:a="http://schemas.openxmlformats.org/drawingml/2006/main" name="Derma hybride">
  <a:themeElements>
    <a:clrScheme name="Derma hybride">
      <a:dk1>
        <a:srgbClr val="2A1A2E"/>
      </a:dk1>
      <a:lt1>
        <a:srgbClr val="FFFFFF"/>
      </a:lt1>
      <a:dk2>
        <a:srgbClr val="5E4A63"/>
      </a:dk2>
      <a:lt2>
        <a:srgbClr val="F3EFF4"/>
      </a:lt2>
      <a:accent1>
        <a:srgbClr val="B8235A"/>
      </a:accent1>
      <a:accent2>
        <a:srgbClr val="2A8C82"/>
      </a:accent2>
      <a:accent3>
        <a:srgbClr val="9A929C"/>
      </a:accent3>
      <a:accent4>
        <a:srgbClr val="E7A33E"/>
      </a:accent4>
      <a:accent5>
        <a:srgbClr val="6C3A73"/>
      </a:accent5>
      <a:accent6>
        <a:srgbClr val="D9D2DB"/>
      </a:accent6>
      <a:hlink>
        <a:srgbClr val="B8235A"/>
      </a:hlink>
      <a:folHlink>
        <a:srgbClr val="6C3A73"/>
      </a:folHlink>
    </a:clrScheme>
    <a:fontScheme name="Derma hybri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Lésions de la peau sous contraintes logiques</dc:title>
  <dc:subject>PptxGenJS Presentation</dc:subject>
  <dc:creator>Lina Khadly, Alexis Dechenais</dc:creator>
  <cp:lastModifiedBy>Lina Khadly, Alexis Dechenais</cp:lastModifiedBy>
  <cp:revision>1</cp:revision>
  <dcterms:created xsi:type="dcterms:W3CDTF">2026-10-15T19:54:19Z</dcterms:created>
  <dcterms:modified xsi:type="dcterms:W3CDTF">2026-10-15T19:54:19Z</dcterms:modified>
</cp:coreProperties>
</file>